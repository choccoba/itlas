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27" r:id="rId2"/>
    <p:sldId id="261" r:id="rId3"/>
    <p:sldId id="326" r:id="rId4"/>
    <p:sldId id="272" r:id="rId5"/>
    <p:sldId id="277" r:id="rId6"/>
    <p:sldId id="322" r:id="rId7"/>
    <p:sldId id="323" r:id="rId8"/>
    <p:sldId id="329" r:id="rId9"/>
    <p:sldId id="273" r:id="rId10"/>
    <p:sldId id="274" r:id="rId11"/>
    <p:sldId id="275" r:id="rId12"/>
    <p:sldId id="276" r:id="rId13"/>
    <p:sldId id="278" r:id="rId14"/>
    <p:sldId id="32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5" autoAdjust="0"/>
    <p:restoredTop sz="82413" autoAdjust="0"/>
  </p:normalViewPr>
  <p:slideViewPr>
    <p:cSldViewPr snapToGrid="0">
      <p:cViewPr varScale="1">
        <p:scale>
          <a:sx n="86" d="100"/>
          <a:sy n="86" d="100"/>
        </p:scale>
        <p:origin x="19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65CD8-E7A2-4349-BB77-F2B1FDFF8E9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80010-9234-4EC0-84E2-5A4AB8038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8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1. Immune Cell Composition and Disease Trajectory Across the HBV Spectrum.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Stacked bar plots showing immune cell lineage proportions in liver across NL, IT, IA, AR, and CR groups (donor-level means, 6 lineages). (B) Same for blood. Liver is dominated by NK cells (43.9% at NL) while blood is dominated by myeloid cells (35.1% at NL). (C) NK cell proportions shown separately for liver (red circles) and blood (blue triangles). Individual donor values with group means (horizontal bars). Liver NK shows progressive decline with partial CR recovery; blood NK shows severe CR depletion. (D) TGFB1 in blood NK cells across disease spectrum, showing IA-emergent upregulation (NL→IT NS; IT→IA ★↑43.9%, p=0.016, 20/20 consistency). TGFB1 elevation in blood NK becomes significant only upon transition to IA, indicating an IA-emergent immunoregulatory phenotype. (E) GNLY in CD8+ T cells, showing preserved cytotoxicity in AR versus diminished in IA (Supplementary Table S4a). (F) MEFV in CD8+ T cells, showing aberrant inflammasome expression unique to CR — a residual transcriptomic alteration (Supplementary Table S5). Mann-Whitney U test; ★p&lt;0.05. (Table 1)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6 (A–F)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5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2. Pathway-Level Tissue Discordance in the IT Phase.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Heatmap of 29 pathway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AUCell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scores (rows) across 6 lineages (columns) showing NL→IT percent change in liver. Red: upregulation; blue: downregulation. ★p&lt;0.05, †p&lt;0.10. (B) Same for blood. Gold borders highlight tissue-opposite pathway-lineage combinations showing significant change in one tissue with opposite direction in the other (Supplementary Table S7).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2 (A, B)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18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IT-Specific Gene Expression Signatures Across Tissue Compartments.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HLA-DPB1 donor-level dot plots across disease groups in myeloid cells, shown for liver (red circles) and blood (blue triangles). The most consistent pan-tissue IT signal, representing antigen presentation machinery. (B) DNMT1 in myeloid cells, the most statistically robust individual gene finding with maximum donor-pair consistency in both tissues (36/36 liver, 25/25 blood). (C) PRDM1 (BLIMP-1) downregulation in CD4+ T cells in both liver and blood, indicating terminal differentiation block. (D) TOX in liver CD4+ T cells showing liver-specific upregulation (★p=0.009) with blood non-significant (tissue-opposite), representing exhaustion programming. (E) SOCS1 in blood CD4+ T cells showing IT-specific downregulation (★p=0.008; NL→IA NS), representing the JAK-STAT paradox. (F) TYROBP in plasma B cells showing cytotoxic phenotype acquisition in both liver (★p=0.009) and blood (★p=0.008).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38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4. Gene-to-Gene Correlation Networks Reveal Coordinated Immune Reprogramming in IT.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Gene correlation network constructed from donor-level Spearman correlations (FDR q&lt;0.05, |ρ|≥0.7, strongest per gene pair across all tissue-lineage combinations). Nodes represent the top hub genes (Supplementary Table S8) plus TET2 and SOCS1. Node colors indicate functional modules: Mitochondrial (cyan; MT-CYB, MT-ND1, MT-ND2, TFAM, SDHB), Signaling (orange; JAK1, TGFBR2, MTOR, RPTOR), Epigenetic (purple; DNMT1, DNMT3A, TET2), and Other Hub Genes (grey; CD44, CD27, ATM, RB1). SOCS1 (amber) is included to illustrate the JAK-STAT paradox. Green solid lines: positive correlations; red dashed lines: inverse correlations. Edge thickness proportional to |ρ|. Key ρ values annotated. (B) TFAM↔DNMT1 correlation in blood myeloid cells (ρ=0.925, p&lt;0.001), demonstrating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-epigenetic coupling. (C) JAK1↔SOCS1 inverse correlation in blood CD4+ T cells (ρ=−0.731, p=0.0003), illustrating the JAK-STAT paradox. In B and C, each dot represents one donor, colored by disease group (NL: green; IT: red; IA: orange; AR: blue; CR: purple).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3 (A–C)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24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5. BCR/TCR Repertoire Analysis: IT-Oriented Key Findings.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Blood TCR clonality across disease groups, showing IT-specific suppression of clonal diversity (NL 0.585 → IT 0.351, ★p=0.032). (B) Liver B_c04-COCH subcluster proportion, showing chronic-specific expansion (★p=0.014). (C) Blood BCR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IgD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percentage, showing near-complete depletion of naive B cells in IT (NL 17.8% → IT 2.2%, ★p=0.016). (D) Liver SDC1+ mature plasma cell (plasmaB_c01) proportion across disease spectrum, showing IT→IA collapse (★p=0.008) consistent with "switched but not expanded" phenotype. Blue triangles: individual blood donors; red circles: individual liver donors. Horizontal bars: group means. Mann-Whitney U test; ★p&lt;0.05. (Table 3)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4 (A–D)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6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S1. UMAP Visualization: 7 Immune Lineages and 59 Subclusters.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UMAP colored by 7 immune lineages (B cells, CD4+ T, CD8+ T, Myeloid, NK,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PlasmaB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with cell counts. (B) UMAP colored by 59 subclusters with marker gene labels from original annotation (Zhang et al., Gut 2023).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2 (A, B)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S2. UMAP: Study Group Distribution.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UMAP split by study group (NL n=42,579; IT n=49,179; IA n=62,545; AR n=45,452; CR n=43,245), with each group highlighted against a grey background of all cells.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5 (one per group)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Supplementary Figure S3. Six Concurrent Transcriptomic Patterns Associated with Effector Suppression in the IT Phase.</a:t>
            </a:r>
            <a:endParaRPr lang="en-US" dirty="0"/>
          </a:p>
          <a:p>
            <a:r>
              <a:rPr lang="en-US" dirty="0"/>
              <a:t>Schematic representation of six concurrent transcriptomic patterns identified in the IT phase of chronic HBV infection. Despite active immune engagement — MHC class II upregulation (HLA-DPB1, 36/36 donor-pair consistency), pan-lineage JAK1 activation (33 significant tests across 6 lineages), and type I IFN pathway elevation in blood myeloid cells — no corresponding effector cytokine, granzyme B, or perforin upregulation was detected. Six patterns, each individually consistent with established mechanisms of immune suppression, were simultaneously present: (L1) myeloid paracrine suppression combining secreted immunoregulatory mediators (TGFB1, LGALS9) with cell-surface inhibitory receptors (LILRB1, SIGLEC10) and inflammasome components (AIM2, MEFV, PYCARD); (L2) epigenetic silencing through coordinated upregulation of DNA methylation writers (DNMT1, DNMT3A) and eraser (TET2) with </a:t>
            </a:r>
            <a:r>
              <a:rPr lang="en-US" dirty="0" err="1"/>
              <a:t>mito</a:t>
            </a:r>
            <a:r>
              <a:rPr lang="en-US" dirty="0"/>
              <a:t>-epigenetic coupling (TFAM↔DNMT1 </a:t>
            </a:r>
            <a:r>
              <a:rPr lang="el-GR" dirty="0"/>
              <a:t>ρ=0.925); (</a:t>
            </a:r>
            <a:r>
              <a:rPr lang="en-US" dirty="0"/>
              <a:t>L3) metabolic checkpoint through mTOR activation dissociated from glycolytic output (LDHA↓); (L4) IT-specific JAK-STAT paradox with SOCS1/3 downregulation yet absent effector output (JAK1↔SOCS1 </a:t>
            </a:r>
            <a:r>
              <a:rPr lang="el-GR" dirty="0"/>
              <a:t>ρ=−0.731); (</a:t>
            </a:r>
            <a:r>
              <a:rPr lang="en-US" dirty="0"/>
              <a:t>L5) liver-specific T cell exhaustion programming (TOX, LAYN, CTLA4, TIGIT) with tissue-opposite directionality (liver↑, blood↓); and (L6) terminal differentiation block (PRDM1↓, RORC↓) across both tissues. Patterns L1–L4 are blood-dominant, L5 is liver-dominant, and L6 operates in both compartments. Left brackets indicate tissue dominance grouping. Oaxaca-Blinder decomposition confirmed that 32/33 gene-lineage-tissue combinations across the six patterns are per-cell dominant (46 ROBUST + 17 VALID) with zero composition-driven findings (Supplementary Tables S6, S9). All percent changes computed from donor-level mean log-normalized expression values; all p-values from two-sided Mann-Whitney U tests.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06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S4. TOX Lineage-Specific IT→IA Transition Pattern in Liver.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TOX donor-level expression in liver myeloid cells across disease groups. TOX showed IT-specific spike (NL→IT ★↑1857%, p=0.004, 36/36) followed by near-complete elimination at IA (IT→IA ★↓96.1%, p=0.007, 30/30) — a true transition pattern. (B) TOX in liver CD4+ T cells showing chronic-persistent upregulation (NL→IT ★↑101%, p=0.009; IT→IA NS), indicating that T cell exhaustion programming persists while aberrant myeloid expression is corrected. Red circles: individual liver donors; horizontal bars: group means. Mann-Whitney U test; ★p&lt;0.05. (Supplementary Table S3)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2 (A, B)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01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S5. GZMK IT→IA Transition in Liver Myeloid and CD8+ T Cells.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GZMK in liver myeloid cells showing aberrant IT-phase expression eliminated at IA (IT→IA ★↓98.4%, p=0.012, 29/30). (B) GZMK in liver CD8+ T cells showing IT→IA downregulation (★↓22.7%, p=0.030, 27/30). Red circles: individual liver donors; horizontal bars: group means. Mann-Whitney U test; ★p&lt;0.05. (Supplementary Table S3)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2 (A, B)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74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S6. Blood NK Cell Immunoregulatory Phenotype Acquisition at IT→IA Transition.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Donor-level expression of three IA-emergent genes in blood NK cells: (A) TGFB1 (IT→IA ★↑43.9%, p=0.016, 20/20; NL→IT NS), (B) SERPINE1 (IT→IA ★↑341.4%, p=0.016, 20/20; NL→IT NS), (C) ID3 (IT→IA ★↑770.3%, p=0.032, 19/20; NL→IT NS). All IA-emergent pattern. Blue triangles: individual blood donors; horizontal bars: group means. Mann-Whitney U test; ★p&lt;0.05. (Supplementary Table S3)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3 (A–C)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74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S7. Three Distinct Patterns of IA vs AR Immune Divergence in the Context of IT-Phase Origins.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IT-inherited pattern: FOXP3 in liver CD4+ T cells showing progressive accumulation across IT→IA, absent in AR (IA vs AR ★p=0.036). (B) IA-emergent pattern: TIGIT in blood myeloid cells, not elevated in IT but significant in IA (NL→IA ★p=0.011; IA vs AR ★p=0.050). (C) AR-advantage pattern: GNLY in blood CD8+ T cells showing marked AR upregulation (NL→AR ★p=0.036) absent in IT and IA. Liver panels: red circles; Blood panels: blue triangles. Mann-Whitney U test; ★p&lt;0.05, †p&lt;0.10. (Supplementary Table S4a)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Panels: 3 (A–C)</a:t>
            </a:r>
          </a:p>
          <a:p>
            <a:pPr rtl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01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Supplementary Figure S8. Additional BCR/TCR Repertoire Findings.</a:t>
            </a:r>
            <a:r>
              <a:rPr lang="en-US" dirty="0"/>
              <a:t> (A) Blood BCR top clone size across disease groups, showing IT-specific increase relative to NL (★p=0.006). IA exhibited one donor with markedly expanded clones (70 cells), though this was not a consistent group-level finding. (B) Liver B_c07-FCRL5 (exhausted B cell) subcluster proportion across the disease spectrum, showing a trend toward IT enrichment (†p=0.052). FCRL5 expression is associated with B cell exhaustion and atypical memory B cells. (C) Liver plasmaB_c03-MKI67 (proliferating plasma cell) proportion, showing a trend toward reduction from NL to IT (†p=0.082), consistent with the overall plasma cell compartment contraction described in Result 5.2. (D) BCR isotype distribution by stage and tissue (stacked bar), showing tissue-specific patterns: liver BCR contains substantial IgG (class-switched) across all groups, while blood BCR is IgM-dominant. Liver: red circles; Blood: blue triangles. Horizontal bars: group means. Mann-Whitney U test; ★p&lt;0.05, †p&lt;0.10. (Table 3, Supplementary Tables S11a, S12) Panels: 4 (A–D)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38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Supplementary Figure S9. Additional IT-Specific Gene Signatures.</a:t>
            </a:r>
            <a:r>
              <a:rPr lang="en-US" dirty="0"/>
              <a:t> Donor-level dot plots for genes not included in Figure 3 due to panel limits. (A) JAK1 cross-lineage NL→IT percent change in liver and blood across 6 lineages, showing pan-lineage elevation consistent with its rank as the most frequently significant gene (33 significant tests; Supplementary Table S8). (B) LAYN in liver CD4+ T cells showing liver-specific IT upregulation (p=0.009, 34/36 donor-pair consistency) with blood non-significant — same tissue-opposite pattern as TOX (Figure 3D). The mean percent change (+430.5%) was disproportionately influenced by one high-expressing IT donor; the statistical significance (Mann-Whitney U rank test) and donor-pair consistency remain robust regardless of this outlier. Liver: red circles; Blood: blue triangles. Mann-Whitney U test; ★p&lt;0.05. Panels: 2 (A, 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80010-9234-4EC0-84E2-5A4AB80388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2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E833-CA90-BC66-4B1D-74A1CFC31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293E4-3B41-3B37-0B0B-3B0EE858A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69A3F-EA62-54AF-2766-5F2AECC28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447D7-89EB-2C54-87AD-26BA8C515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51052-A40A-A0F0-AF23-F18C90FB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6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070D-E17D-02B4-39F0-1240B520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9562-CCB2-AA69-D2D9-9D66EF633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3D1C6-818A-599A-FC74-9344FBC7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9F6D-8ED2-8456-2491-37EF04A0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28514-1CC8-898A-673D-6790D9D3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7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470A-D258-9BBA-1F7C-0AA263C9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B7908-7E71-166D-8CE0-927E853C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927F1-10F0-B296-965D-360D1E73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AA4E0-1FF3-20B9-CA58-F17E14B0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41A48-C0F9-BF5B-CCCC-958ED829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4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377B-B6EC-226D-DA06-021CDD00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AD011-F41E-E04B-946C-912E445B3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D47D4-8874-E6EA-AFD1-5172E31C5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CCA50-148D-A297-9562-FE6832A1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8A4D-BA1D-48D6-9751-89757B74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125B-B16D-AF57-8BB9-720FD550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5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FBA8-5366-0DE3-A29E-02C566A4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117B8-CFAB-6BC3-8E19-18813CCA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42481-B59C-917E-1F9F-8E538EE38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57476-00E0-707A-A25D-FCEF1ABDE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5CE6A-CB19-6187-0649-DDA775B24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F0F8F-42FC-2069-FC71-2A4E2B04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D5D9B0-70C2-2BBD-5235-35188B79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03B39-B3C2-0FB8-BAA4-19DC1969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02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4450-3F0B-8AFF-B7D9-ECA6A630B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61A60-1C16-A236-BC8D-FA80905D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9A320-D971-2B02-C7DA-6106C5F7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3AAAA-4766-4338-21A0-CAFBAA1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1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56D21-7F3E-DBC4-86E7-500C0C5E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8C60B-5B43-2F08-068C-89BEFB80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8D90-3BD1-F912-DCE6-1C050729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2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8156-2BDB-E3A2-D3B8-7AF23C36B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3AFEB-E9FD-8696-2415-6DB30F7C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1D659-F16A-13CB-E065-274591382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FEF0B-9CA4-DF9D-F7E7-E4FD66DE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AD59E-92D7-71EE-587C-0D1786CA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3580E-B6D8-880B-A947-D700B3C2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3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DCC5-CB3D-2571-8313-BD2012A3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05B45-2547-3E46-046A-D0B9B614B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0E966-D576-D1AA-5791-5D396D428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EB9C1-BD8B-79C4-C6DA-F223097D4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0DBDF-4DBA-AC17-A0AD-9B3CC8A4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C7608-8FA0-DDFD-B785-48049DE9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2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C796-11C6-2594-01C4-C69ECF01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23FC1-1980-F70C-1DF8-35909D3E1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1131D-5A78-B9FB-3D34-33296BBE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0BEE0-FDAA-94A2-DF15-ED5D585A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60D5A-A6CF-215E-10A5-F7486265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7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D7975-B228-9C3B-A34F-BF6A6409F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611B4-4F35-C50A-0ACA-75637C593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0EA79-0412-06FC-02E9-D147B0EC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0E6CD-2241-816E-D166-530C9097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4A12E-2A29-8255-FE88-F50960F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85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27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00F19-8CD0-0235-9B8F-03955BA8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EF48-DA3A-2E4F-4918-4E71F8712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42638-C5E0-B260-3CCF-9CA59843C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BC874-E2E1-4396-82BC-4E9D80A65C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D5CF6-3F29-A602-0CA8-A7A6F7F54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2AFB1-B9A3-A5DA-3DC5-C82447D8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0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22F69-6E85-0145-474C-F78052C8C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59" y="63698"/>
            <a:ext cx="8382081" cy="673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8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957A179-521B-D984-7B61-9A11F297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8" y="0"/>
            <a:ext cx="10841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65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94995EA-89FE-7338-B0A2-E685A8C6F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67267"/>
            <a:ext cx="11469074" cy="669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7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8941C8-6349-DBE9-A7E8-4A7EC677A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225" y="0"/>
            <a:ext cx="94155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78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7BBD3AC-A8B9-3317-55D2-C154760B3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6"/>
          <a:stretch>
            <a:fillRect/>
          </a:stretch>
        </p:blipFill>
        <p:spPr bwMode="auto">
          <a:xfrm>
            <a:off x="1697831" y="183995"/>
            <a:ext cx="8796337" cy="649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72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5C07D9-DD64-D563-E0D6-E10ACEC51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81050"/>
            <a:ext cx="11430000" cy="529590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3829C426-A7E5-CDAD-DCD5-204A453D549F}"/>
              </a:ext>
            </a:extLst>
          </p:cNvPr>
          <p:cNvSpPr/>
          <p:nvPr/>
        </p:nvSpPr>
        <p:spPr>
          <a:xfrm>
            <a:off x="304800" y="20574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/>
              <a:t>Supplementary Figure S1. UMAP — 7 Immune Lineages &amp; 59 Subclusters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2BA27C-608E-09CD-2C75-90E40A64A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3" y="1862051"/>
            <a:ext cx="11925993" cy="313389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DA44E860-9ED5-7B6B-3256-A3F1DA765B5C}"/>
              </a:ext>
            </a:extLst>
          </p:cNvPr>
          <p:cNvSpPr/>
          <p:nvPr/>
        </p:nvSpPr>
        <p:spPr>
          <a:xfrm>
            <a:off x="514817" y="696751"/>
            <a:ext cx="1120046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/>
              <a:t>Supplementary Figure S2. UMAP — Study Group Distribution on UMAP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BB9429-4BE4-9345-81C9-25116099E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0"/>
            <a:ext cx="5238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3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C50FC-2703-22D9-4A9E-ACCE3E28B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9" y="1191763"/>
            <a:ext cx="10881382" cy="447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10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1DA7-716E-D773-FD01-4712EF84C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FEE09F-AA74-0682-4262-7D36A6030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9" y="1194811"/>
            <a:ext cx="10881382" cy="44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95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FF33-7682-1F1A-DA63-CF915B58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282641-FF98-8513-CBF1-BF7CAFA7D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1566"/>
            <a:ext cx="12192000" cy="359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8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D1ECCA2-4464-9DDD-903B-1DA002127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2400"/>
            <a:ext cx="12192000" cy="401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215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0602857-BC0F-0779-4626-39E47B8EA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0"/>
            <a:ext cx="8796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592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305F3C-CCB1-B608-1BD3-1EBB8A1D9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1" y="643466"/>
            <a:ext cx="1061155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3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3568</TotalTime>
  <Words>2419</Words>
  <Application>Microsoft Office PowerPoint</Application>
  <PresentationFormat>Widescreen</PresentationFormat>
  <Paragraphs>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MIN</dc:creator>
  <cp:lastModifiedBy>YOUNG MIN</cp:lastModifiedBy>
  <cp:revision>16</cp:revision>
  <dcterms:created xsi:type="dcterms:W3CDTF">2026-03-09T02:36:00Z</dcterms:created>
  <dcterms:modified xsi:type="dcterms:W3CDTF">2026-03-20T11:25:00Z</dcterms:modified>
</cp:coreProperties>
</file>