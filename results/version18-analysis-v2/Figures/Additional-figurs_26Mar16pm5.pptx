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8" r:id="rId2"/>
    <p:sldId id="32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9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51CE0-2639-4874-B8DC-C5741CE4BCFA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E365BC-4614-403F-B0E0-FA89228C7E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35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Supplementary Figure S3. Six-Layer Effector Suppression Architecture in IT Phase.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Schematic model illustrating six concurrent transcriptomic patterns associated with effector suppression despite active immune engagement. Blood-dominant patterns (L1–L4): myeloid paracrine suppression (TGFB1/LGALS9/PYCARD), epigenetic silencing (DNMT1/DNMT3A/TET2), metabolic checkpoint (MTOR↑/LDHA↓), JAK-STAT paradox (SOCS1/3↓). Liver-dominant pattern (L5): T cell exhaustion programming (TOX/LAYN/CTLA4/TIGIT) with tissue-opposite directionality. Both-tissue pattern (L6): terminal differentiation block (PRDM1↓/RORC↓). All 32 significant gene-lineage-tissue combinations and Oaxaca-Blinder per-cell validation detailed in Supplementary Table S6.</a:t>
            </a:r>
            <a:b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Panel: 1 (schematic)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80010-9234-4EC0-84E2-5A4AB80388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7957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</a:t>
            </a:r>
            <a:r>
              <a:rPr lang="en-US" altLang="ko-KR" dirty="0"/>
              <a:t>correlation </a:t>
            </a:r>
            <a:r>
              <a:rPr lang="ko-KR" altLang="en-US" dirty="0"/>
              <a:t>사이의 가능한 분자적 연결고리를 생각해보면 정말 매력적인 회로가 보입니다</a:t>
            </a:r>
            <a:r>
              <a:rPr lang="en-US" altLang="ko-KR" dirty="0"/>
              <a:t>. </a:t>
            </a:r>
            <a:r>
              <a:rPr lang="ko-KR" altLang="en-US" dirty="0" err="1"/>
              <a:t>시각화해보겠습니다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정말 흥미로운 질문입니다</a:t>
            </a:r>
            <a:r>
              <a:rPr lang="en-US" altLang="ko-KR" dirty="0"/>
              <a:t>! </a:t>
            </a:r>
            <a:r>
              <a:rPr lang="ko-KR" altLang="en-US" dirty="0"/>
              <a:t>분자 수준에서 이 두 </a:t>
            </a:r>
            <a:r>
              <a:rPr lang="en-US" altLang="ko-KR" dirty="0"/>
              <a:t>correlation</a:t>
            </a:r>
            <a:r>
              <a:rPr lang="ko-KR" altLang="en-US" dirty="0"/>
              <a:t>을 연결하는 핵심 고리는 **대사산물 </a:t>
            </a:r>
            <a:r>
              <a:rPr lang="en-US" altLang="ko-KR" dirty="0"/>
              <a:t>SAM (S-adenosylmethionine)** </a:t>
            </a:r>
            <a:r>
              <a:rPr lang="ko-KR" altLang="en-US" dirty="0"/>
              <a:t>핵심 논리는 이렇습니다</a:t>
            </a:r>
            <a:r>
              <a:rPr lang="en-US" altLang="ko-KR" dirty="0"/>
              <a:t>:</a:t>
            </a:r>
          </a:p>
          <a:p>
            <a:r>
              <a:rPr lang="ko-KR" altLang="en-US" b="1" dirty="0"/>
              <a:t>연결고리</a:t>
            </a:r>
            <a:r>
              <a:rPr lang="en-US" altLang="ko-KR" b="1" dirty="0"/>
              <a:t>: </a:t>
            </a:r>
            <a:r>
              <a:rPr lang="en-US" b="1" dirty="0"/>
              <a:t>DNMT1</a:t>
            </a:r>
            <a:r>
              <a:rPr lang="ko-KR" altLang="en-US" b="1" dirty="0"/>
              <a:t>에 의한 </a:t>
            </a:r>
            <a:r>
              <a:rPr lang="en-US" b="1" dirty="0"/>
              <a:t>SOCS1 promoter methylation</a:t>
            </a:r>
            <a:endParaRPr lang="en-US" dirty="0"/>
          </a:p>
          <a:p>
            <a:r>
              <a:rPr lang="en-US" dirty="0"/>
              <a:t>TFAM↑ → </a:t>
            </a:r>
            <a:r>
              <a:rPr lang="ko-KR" altLang="en-US" dirty="0"/>
              <a:t>미토콘드리아 대사 활성화 → </a:t>
            </a:r>
            <a:r>
              <a:rPr lang="en-US" dirty="0"/>
              <a:t>one-carbon metabolism</a:t>
            </a:r>
            <a:r>
              <a:rPr lang="ko-KR" altLang="en-US" dirty="0"/>
              <a:t>을 통한 </a:t>
            </a:r>
            <a:r>
              <a:rPr lang="en-US" b="1" dirty="0"/>
              <a:t>SAM (S-adenosylmethionine) </a:t>
            </a:r>
            <a:r>
              <a:rPr lang="ko-KR" altLang="en-US" b="1" dirty="0"/>
              <a:t>생산 증가</a:t>
            </a:r>
            <a:r>
              <a:rPr lang="ko-KR" altLang="en-US" dirty="0"/>
              <a:t> → </a:t>
            </a:r>
            <a:r>
              <a:rPr lang="en-US" dirty="0"/>
              <a:t>DNMT1</a:t>
            </a:r>
            <a:r>
              <a:rPr lang="ko-KR" altLang="en-US" dirty="0"/>
              <a:t>의 </a:t>
            </a:r>
            <a:r>
              <a:rPr lang="en-US" dirty="0"/>
              <a:t>methyl donor </a:t>
            </a:r>
            <a:r>
              <a:rPr lang="ko-KR" altLang="en-US" dirty="0"/>
              <a:t>공급 → </a:t>
            </a:r>
            <a:r>
              <a:rPr lang="en-US" dirty="0"/>
              <a:t>DNMT1</a:t>
            </a:r>
            <a:r>
              <a:rPr lang="ko-KR" altLang="en-US" dirty="0"/>
              <a:t>이 </a:t>
            </a:r>
            <a:r>
              <a:rPr lang="en-US" b="1" dirty="0"/>
              <a:t>SOCS1 promoter CpG island</a:t>
            </a:r>
            <a:r>
              <a:rPr lang="ko-KR" altLang="en-US" b="1" dirty="0"/>
              <a:t>을 </a:t>
            </a:r>
            <a:r>
              <a:rPr lang="en-US" b="1" dirty="0"/>
              <a:t>methylation</a:t>
            </a:r>
            <a:r>
              <a:rPr lang="en-US" dirty="0"/>
              <a:t> → SOCS1 transcriptional silencing → JAK-STAT brake </a:t>
            </a:r>
            <a:r>
              <a:rPr lang="ko-KR" altLang="en-US" dirty="0"/>
              <a:t>해제</a:t>
            </a:r>
          </a:p>
          <a:p>
            <a:r>
              <a:rPr lang="ko-KR" altLang="en-US" dirty="0"/>
              <a:t>이 회로가 성립하면 두 </a:t>
            </a:r>
            <a:r>
              <a:rPr lang="en-US" dirty="0"/>
              <a:t>correlation</a:t>
            </a:r>
            <a:r>
              <a:rPr lang="ko-KR" altLang="en-US" dirty="0"/>
              <a:t>이 </a:t>
            </a:r>
            <a:r>
              <a:rPr lang="ko-KR" altLang="en-US" b="1" dirty="0"/>
              <a:t>하나의 </a:t>
            </a:r>
            <a:r>
              <a:rPr lang="en-US" b="1" dirty="0"/>
              <a:t>causal chain</a:t>
            </a:r>
            <a:r>
              <a:rPr lang="ko-KR" altLang="en-US" dirty="0"/>
              <a:t>으로 연결됩니다</a:t>
            </a:r>
            <a:r>
              <a:rPr lang="en-US" altLang="ko-KR" dirty="0"/>
              <a:t>:</a:t>
            </a:r>
          </a:p>
          <a:p>
            <a:r>
              <a:rPr lang="el-GR" b="1" dirty="0"/>
              <a:t>ρ=0.925 (</a:t>
            </a:r>
            <a:r>
              <a:rPr lang="en-US" b="1" dirty="0"/>
              <a:t>TFAM↔DNMT1)</a:t>
            </a:r>
            <a:r>
              <a:rPr lang="en-US" dirty="0"/>
              <a:t>: </a:t>
            </a:r>
            <a:r>
              <a:rPr lang="ko-KR" altLang="en-US" dirty="0"/>
              <a:t>미토콘드리아 </a:t>
            </a:r>
            <a:r>
              <a:rPr lang="en-US" dirty="0"/>
              <a:t>biogenesis</a:t>
            </a:r>
            <a:r>
              <a:rPr lang="ko-KR" altLang="en-US" dirty="0"/>
              <a:t>가 </a:t>
            </a:r>
            <a:r>
              <a:rPr lang="en-US" dirty="0"/>
              <a:t>SAM</a:t>
            </a:r>
            <a:r>
              <a:rPr lang="ko-KR" altLang="en-US" dirty="0"/>
              <a:t>을 통해 </a:t>
            </a:r>
            <a:r>
              <a:rPr lang="en-US" dirty="0"/>
              <a:t>DNMT1 </a:t>
            </a:r>
            <a:r>
              <a:rPr lang="ko-KR" altLang="en-US" dirty="0"/>
              <a:t>기질을 공급</a:t>
            </a:r>
          </a:p>
          <a:p>
            <a:r>
              <a:rPr lang="el-GR" b="1" dirty="0"/>
              <a:t>ρ=−0.731 (</a:t>
            </a:r>
            <a:r>
              <a:rPr lang="en-US" b="1" dirty="0"/>
              <a:t>JAK1↔SOCS1)</a:t>
            </a:r>
            <a:r>
              <a:rPr lang="en-US" dirty="0"/>
              <a:t>: DNMT1</a:t>
            </a:r>
            <a:r>
              <a:rPr lang="ko-KR" altLang="en-US" dirty="0"/>
              <a:t>이 </a:t>
            </a:r>
            <a:r>
              <a:rPr lang="en-US" dirty="0"/>
              <a:t>SOCS1</a:t>
            </a:r>
            <a:r>
              <a:rPr lang="ko-KR" altLang="en-US" dirty="0"/>
              <a:t>을 </a:t>
            </a:r>
            <a:r>
              <a:rPr lang="en-US" dirty="0"/>
              <a:t>epigenetically silence → JAK1 signaling unbraked</a:t>
            </a:r>
          </a:p>
          <a:p>
            <a:r>
              <a:rPr lang="ko-KR" altLang="en-US" dirty="0"/>
              <a:t>추가적으로 </a:t>
            </a:r>
            <a:r>
              <a:rPr lang="en-US" b="1" dirty="0"/>
              <a:t>SOCS1 promoter hypermethylation</a:t>
            </a:r>
            <a:r>
              <a:rPr lang="ko-KR" altLang="en-US" dirty="0"/>
              <a:t>은 이미 </a:t>
            </a:r>
            <a:r>
              <a:rPr lang="en-US" dirty="0"/>
              <a:t>cancer biology</a:t>
            </a:r>
            <a:r>
              <a:rPr lang="ko-KR" altLang="en-US" dirty="0"/>
              <a:t>에서 잘 입증된 기전입니다 </a:t>
            </a:r>
            <a:r>
              <a:rPr lang="en-US" altLang="ko-KR" dirty="0"/>
              <a:t>— </a:t>
            </a:r>
            <a:r>
              <a:rPr lang="en-US" dirty="0"/>
              <a:t>hepatocellular carcinoma</a:t>
            </a:r>
            <a:r>
              <a:rPr lang="ko-KR" altLang="en-US" dirty="0"/>
              <a:t>를 포함해서요</a:t>
            </a:r>
            <a:r>
              <a:rPr lang="en-US" altLang="ko-KR" dirty="0"/>
              <a:t>. </a:t>
            </a:r>
            <a:r>
              <a:rPr lang="ko-KR" altLang="en-US" dirty="0"/>
              <a:t>또한 </a:t>
            </a:r>
            <a:r>
              <a:rPr lang="en-US" dirty="0"/>
              <a:t>mTOR</a:t>
            </a:r>
            <a:r>
              <a:rPr lang="ko-KR" altLang="en-US" dirty="0"/>
              <a:t>가 </a:t>
            </a:r>
            <a:r>
              <a:rPr lang="en-US" dirty="0"/>
              <a:t>mitochondrial biogenesis</a:t>
            </a:r>
            <a:r>
              <a:rPr lang="ko-KR" altLang="en-US" dirty="0"/>
              <a:t>를 </a:t>
            </a:r>
            <a:r>
              <a:rPr lang="en-US" dirty="0"/>
              <a:t>drive</a:t>
            </a:r>
            <a:r>
              <a:rPr lang="ko-KR" altLang="en-US" dirty="0"/>
              <a:t>하므로 </a:t>
            </a:r>
            <a:r>
              <a:rPr lang="en-US" b="1" dirty="0"/>
              <a:t>positive feedback loop</a:t>
            </a:r>
            <a:r>
              <a:rPr lang="ko-KR" altLang="en-US" dirty="0"/>
              <a:t>도 가능합니다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이건 </a:t>
            </a:r>
            <a:r>
              <a:rPr lang="en-US" altLang="ko-KR" b="1" dirty="0"/>
              <a:t>Discussion</a:t>
            </a:r>
            <a:r>
              <a:rPr lang="ko-KR" altLang="en-US" b="1" dirty="0"/>
              <a:t>용 </a:t>
            </a:r>
            <a:r>
              <a:rPr lang="en-US" altLang="ko-KR" b="1" dirty="0"/>
              <a:t>conceptual model</a:t>
            </a:r>
            <a:r>
              <a:rPr lang="ko-KR" altLang="en-US" dirty="0"/>
              <a:t>이지 우리 데이터로 직접 증명된 것이 아닙니다</a:t>
            </a:r>
            <a:r>
              <a:rPr lang="en-US" altLang="ko-KR" dirty="0"/>
              <a:t>. </a:t>
            </a:r>
            <a:r>
              <a:rPr lang="en-US" dirty="0"/>
              <a:t>"correlation data suggest a potential mechanistic link through SAM-dependent SOCS1 promoter methylation, a pathway established in other contexts [ref]" </a:t>
            </a:r>
            <a:r>
              <a:rPr lang="ko-KR" altLang="en-US" dirty="0"/>
              <a:t>정도의 </a:t>
            </a:r>
            <a:r>
              <a:rPr lang="en-US" dirty="0"/>
              <a:t>cautious language</a:t>
            </a:r>
            <a:r>
              <a:rPr lang="ko-KR" altLang="en-US" dirty="0"/>
              <a:t>가 필요합니다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5180010-9234-4EC0-84E2-5A4AB80388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2244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6E833-CA90-BC66-4B1D-74A1CFC31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293E4-3B41-3B37-0B0B-3B0EE858A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69A3F-EA62-54AF-2766-5F2AECC28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447D7-89EB-2C54-87AD-26BA8C515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51052-A40A-A0F0-AF23-F18C90FB5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65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070D-E17D-02B4-39F0-1240B520D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D9562-CCB2-AA69-D2D9-9D66EF633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3D1C6-818A-599A-FC74-9344FBC7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3E9F6D-8ED2-8456-2491-37EF04A09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28514-1CC8-898A-673D-6790D9D3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69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470A-D258-9BBA-1F7C-0AA263C9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B7908-7E71-166D-8CE0-927E853C1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927F1-10F0-B296-965D-360D1E737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AA4E0-1FF3-20B9-CA58-F17E14B0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41A48-C0F9-BF5B-CCCC-958ED829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1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377B-B6EC-226D-DA06-021CDD009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AD011-F41E-E04B-946C-912E445B3D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D47D4-8874-E6EA-AFD1-5172E31C5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FCCA50-148D-A297-9562-FE6832A1B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78A4D-BA1D-48D6-9751-89757B74D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D6125B-B16D-AF57-8BB9-720FD5508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99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DFBA8-5366-0DE3-A29E-02C566A4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117B8-CFAB-6BC3-8E19-18813CCA2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42481-B59C-917E-1F9F-8E538EE38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57476-00E0-707A-A25D-FCEF1ABDEB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D5CE6A-CB19-6187-0649-DDA775B242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DF0F8F-42FC-2069-FC71-2A4E2B047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D5D9B0-70C2-2BBD-5235-35188B79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603B39-B3C2-0FB8-BAA4-19DC1969F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4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C4450-3F0B-8AFF-B7D9-ECA6A630B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461A60-1C16-A236-BC8D-FA80905D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D9A320-D971-2B02-C7DA-6106C5F7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3AAAA-4766-4338-21A0-CAFBAA199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7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B56D21-7F3E-DBC4-86E7-500C0C5E3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8C60B-5B43-2F08-068C-89BEFB803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A8D90-3BD1-F912-DCE6-1C0507292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358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98156-2BDB-E3A2-D3B8-7AF23C36B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83AFEB-E9FD-8696-2415-6DB30F7C3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A1D659-F16A-13CB-E065-274591382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FEF0B-9CA4-DF9D-F7E7-E4FD66DE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AD59E-92D7-71EE-587C-0D1786CA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3580E-B6D8-880B-A947-D700B3C2F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012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DDCC5-CB3D-2571-8313-BD2012A3A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405B45-2547-3E46-046A-D0B9B614B8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A0E966-D576-D1AA-5791-5D396D428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1EB9C1-BD8B-79C4-C6DA-F223097D4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0DBDF-4DBA-AC17-A0AD-9B3CC8A4B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C7608-8FA0-DDFD-B785-48049DE99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15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CC796-11C6-2594-01C4-C69ECF017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F23FC1-1980-F70C-1DF8-35909D3E11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1131D-5A78-B9FB-3D34-33296BBE6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E0BEE0-FDAA-94A2-DF15-ED5D585AD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60D5A-A6CF-215E-10A5-F7486265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8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BD7975-B228-9C3B-A34F-BF6A6409F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0611B4-4F35-C50A-0ACA-75637C5931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0EA79-0412-06FC-02E9-D147B0EC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0E6CD-2241-816E-D166-530C90973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4A12E-2A29-8255-FE88-F50960FE9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89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444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500F19-8CD0-0235-9B8F-03955BA80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6EF48-DA3A-2E4F-4918-4E71F8712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42638-C5E0-B260-3CCF-9CA59843CB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ABC874-E2E1-4396-82BC-4E9D80A65C85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D5CF6-3F29-A602-0CA8-A7A6F7F543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2AFB1-B9A3-A5DA-3DC5-C82447D8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A1A4FF-6E05-4905-B9BD-7D05AD6D5C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21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95FB2B-E96F-F023-E177-FB8FDCA1F7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" t="1666" b="2846"/>
          <a:stretch>
            <a:fillRect/>
          </a:stretch>
        </p:blipFill>
        <p:spPr>
          <a:xfrm>
            <a:off x="377952" y="182879"/>
            <a:ext cx="11443372" cy="641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51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763CF7-CA91-A8C6-56D8-7B3F07A09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49" t="20166" r="50927" b="31501"/>
          <a:stretch>
            <a:fillRect/>
          </a:stretch>
        </p:blipFill>
        <p:spPr>
          <a:xfrm>
            <a:off x="335280" y="740252"/>
            <a:ext cx="5760720" cy="53774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CF1147-62C7-6A44-8C06-34DEB6F20D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57" t="7832" r="1902" b="40834"/>
          <a:stretch>
            <a:fillRect/>
          </a:stretch>
        </p:blipFill>
        <p:spPr>
          <a:xfrm>
            <a:off x="6394454" y="740252"/>
            <a:ext cx="5584186" cy="529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7367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338</Words>
  <Application>Microsoft Office PowerPoint</Application>
  <PresentationFormat>Widescreen</PresentationFormat>
  <Paragraphs>12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1_Office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 MIN</dc:creator>
  <cp:lastModifiedBy>YOUNG MIN</cp:lastModifiedBy>
  <cp:revision>1</cp:revision>
  <dcterms:created xsi:type="dcterms:W3CDTF">2026-03-16T08:45:37Z</dcterms:created>
  <dcterms:modified xsi:type="dcterms:W3CDTF">2026-03-16T08:47:12Z</dcterms:modified>
</cp:coreProperties>
</file>