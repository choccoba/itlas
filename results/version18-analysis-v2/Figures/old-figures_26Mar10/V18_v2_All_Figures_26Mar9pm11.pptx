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2" r:id="rId2"/>
    <p:sldId id="261" r:id="rId3"/>
    <p:sldId id="263" r:id="rId4"/>
    <p:sldId id="264" r:id="rId5"/>
    <p:sldId id="272" r:id="rId6"/>
    <p:sldId id="266" r:id="rId7"/>
    <p:sldId id="269" r:id="rId8"/>
    <p:sldId id="277" r:id="rId9"/>
    <p:sldId id="268" r:id="rId10"/>
    <p:sldId id="270" r:id="rId11"/>
    <p:sldId id="322" r:id="rId12"/>
    <p:sldId id="323" r:id="rId13"/>
    <p:sldId id="273" r:id="rId14"/>
    <p:sldId id="274" r:id="rId15"/>
    <p:sldId id="275" r:id="rId16"/>
    <p:sldId id="276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A7CC2-6B09-4923-AA0A-6F048DFAA51B}" v="26" dt="2026-03-09T15:06:24.2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5" autoAdjust="0"/>
    <p:restoredTop sz="84104" autoAdjust="0"/>
  </p:normalViewPr>
  <p:slideViewPr>
    <p:cSldViewPr snapToGrid="0">
      <p:cViewPr varScale="1">
        <p:scale>
          <a:sx n="100" d="100"/>
          <a:sy n="100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65CD8-E7A2-4349-BB77-F2B1FDFF8E9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80010-9234-4EC0-84E2-5A4AB8038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8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1. Tissue-Separated Immune Cell Composition Across the HBV Disease Spectrum. (A) Stacked bar plots showing immune cell lineage proportions in liver across NL, IT, IA, AR, and CR groups (donor-level means, 6 lineages). (B) Same for blood. Liver is dominated by NK cells (43.9% at NL) while blood is dominated by myeloid cells (35.1% at NL). (C) NK cell proportions shown separately for liver (red circles) and blood (blue triangles). Individual donor values with group means (horizontal bars). Liver NK shows progressive decline with partial CR recovery; blood NK shows severe CR depletion. Mann-Whitney U test; ★p&lt;0.05. Panels: 3 (A, B, C)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7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2. Pathway-Level Tissue Discordance in IT Phase. (A) Heatmap of 29 pathway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AUCell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scores (rows) across 6 lineages (columns) showing NL→IT percent change in liver. Red: upregulation; blue: downregulation. ★p&lt;0.05, †p&lt;0.10. (B) Same for blood. Gold borders: 9 tissue-opposite pathway-lineage combinations (Table 2) showing significant change in one tissue with opposite direction in the other. Panels: 2 (A, B)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18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3. IT Gene Signatures Significant in Both Liver and Blood. (A) HLA-DPB1 donor-level dot plots across disease groups in myeloid cells, shown for liver (red circles) and blood (blue triangles). (B) DNMT1 myeloid donor-level dot plots. (C) JAK1 cross-lineage NL→IT percent change in liver and blood, showing pan-lineage elevation. ★p&lt;0.05. (D) PRDM1 downregulation in CD4+ T cells in both liver and blood. Panels: 4 (A–D)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25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4. IT-Specific Gene Signatures by Tissue Compartment. (A) TOX in CD4+ T cells showing liver-specific upregulation (★p=0.009) with blood non-significant (tissue-opposite). (B) LAYN in CD4+ T cells, same liver-specific pattern (★p=0.009). (C) SOCS1 in CD4+ T cells showing blood-specific IT downregulation (★p=0.008; JAK-STAT brake release). (D) TYROBP in plasma B cells showing cytotoxic phenotype acquisition in both liver (★p=0.009) and blood (★p=0.008). Panels: 4 (A–D)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22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5. Gene-to-Gene Correlation Networks Reveal Coordinated Immune Reprogramming in IT.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Gene correlation network constructed from donor-level Spearman correlations (FDR q&lt;0.05, |ρ|≥0.7, strongest per gene pair across all tissue-lineage combinations). Nodes represent the 15 hub genes (Table 4) plus TET2 and SOCS1. Node colors indicate functional modules: Mitochondrial (cyan; MT-CYB, MT-ND1, MT-ND2, TFAM, SDHB), Signaling (orange; JAK1, TGFBR2, MTOR, RPTOR), Epigenetic (purple; DNMT1, DNMT3A, TET2), and Other Hub Genes (grey; CD44, CD27, ATM, RB1). SOCS1 (amber) is included to illustrate the JAK-STAT paradox. Green solid lines indicate positive correlations; red dashed lines indicate inverse correlations. Edge thickness is proportional to |ρ|. Key ρ values are annotated. (B) TFAM↔DNMT1 correlation in Blood Myeloid cells (ρ=0.925, p&lt;0.001), demonstrating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-epigenetic coupling. (C) JAK1↔SOCS1 inverse correlation in Blood CD4+ T cells (ρ=−0.731, p=0.0003), illustrating the JAK-STAT paradox. In B and C, each dot represents one donor, colored by disease group (NL, green; IT, red; IA, orange; AR, blue; CR, purple).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24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6. Disease Trajectory: IT→IA Transition and CR Scar. (A) TGFB1 in blood NK cells across disease spectrum, showing IT→IA transition with NK suppressive conversion. (B) GNLY in CD8+ T cells, showing preserved cytotoxicity in AR versus diminished in IA. (C) MEFV in CD8+ T cells, showing aberrant inflammasome expression unique to CR (immunologic scar). Panels: 3 (A-C)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5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8. BCR/TCR Repertoire Analysis Reveals Clonal Arrest with Active B Cell Engagement in IT. (A) TCR clonality (1 − normalized Shannon entropy) in blood across disease groups. IT showed significantly reduced clonal diversity compared with NL (NL 0.585 → IT 0.351, ★p=0.032, 23/25 donor-pair consistency), representing the only IT-specific BCR/TCR finding (NL→IA p=0.064, NS). Each dot represents one donor; horizontal bars indicate group means. Blue triangles = blood. Mann-Whitney U test; ★p&lt;0.05. (B) B_c04-COCH proportion within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B+PlasmaB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cells in liver. COCH+ B cells showed chronic-persistent expansion from IT (NL 1.3% → IT 7.1%, ★p=0.014, 29/30; NL→IA ★p=0.022), indicating active B cell engagement beginning in IT and persisting through IA. Red circles = liver. (C)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isotype percentage among BCR+ cells in blood.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(naive/unswitched) B cells showed chronic-persistent depletion (NL 17.7% → IT 2.2%, ★p=0.016, 24/25; NL→IA ★p=0.016), indicating accelerated transition from naive to activated B cell compartment. (D) plasmaB_c01-SDC1 proportion within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B+PlasmaB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cells in liver. Mature plasma cells (SDC1/CD138+) were maintained in IT (NL 32.5% vs IT 26.0%, NS) but collapsed at the IT→IA transition (IT 26.0% → IA 5.0%, ★p=0.008, 25/25 consistency), representing a transition event rather than an IT-specific feature. Panels: 4 (A–D)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6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7. Six-Layer Effector Suppression Architecture in IT Phase. Schematic model illustrating six concurrent transcriptomic patterns preventing effector function despite active immune engagement. Blood-dominant layers (L1-L4): myeloid paracrine suppression (TGFB1/LGALS9), epigenetic silencing (DNMT1/DNMT3A/TET2), metabolic checkpoint (MTOR↑/LDHA↓), JAK-STAT paradox (SOCS1/3↓). Liver-dominant layer (L5): T cell exhaustion (TOX/LAYN). Both-tissue layer (L6): terminal differentiation block (PRDM1↓). [Schematic — generated separately] Panel: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57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S4. TOX Lineage-Specific IT→IA Transition Pattern in Liver. (A) TOX donor-level expression in liver myeloid cells across disease groups (NL, IT, IA, AR, CR). Red circles represent individual liver donors; horizontal bars indicate group means. TOX showed a striking IT-specific spike in myeloid cells (NL→IT ★↑1857%, p=0.004, 36/36 consistency) followed by near-complete elimination at IA (IT→IA ★↓96.1%, p=0.007, 30/30). IA expression (mean=0.0033) fell below the NL baseline (mean=0.0044), representing a true transition pattern. (B) TOX donor-level expression in liver CD4+ T cells across the same disease groups. In contrast to myeloid cells, TOX in CD4+ T cells showed chronic-persistent upregulation: NL→IT ★↑101% (p=0.009) with IT→IA non-significant (p=0.931), indicating that TOX elevation persists through the IA phase in the T cell lineage. This lineage-specific dissociation — IT-specific in myeloid cells versus chronic-persistent in CD4+ T cells — demonstrates that the IT→IA transition involves selective correction of aberrant myeloid programs while T cell exhaustion programming remains intact. Compare with Figure 4A (TOX CD4+ T liver-specific upregulation). Mann-Whitney U test; ★p&lt;0.05. Panels: 2 (A, 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01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S5. GZMK IT→IA Transition in Liver Myeloid and CD8+ T Cells. (A) GZMK donor-level expression in liver myeloid cells across disease groups. Similar to TOX, GZMK showed aberrant IT-phase expression in myeloid cells that was nearly completely eliminated upon transition to IA (IT→IA ★↓98.4%, p=0.012, 29/30 consistency). GZMK expression in myeloid cells is atypical and suggests an aberrant cytotoxic program acquired during the IT phase. (B) GZMK donor-level expression in liver CD8+ T cells. Unlike the myeloid pattern, CD8+ T cells showed significant IT→IA downregulation (IT→IA ★↓22.7%, p=0.030, 27/30), consistent with reduced cytotoxic gene expression upon immune activation. Red circles: individual liver donors; horizontal bars: group means. Mann-Whitney U test; ★p&lt;0.05. Panels: 2 (A, 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74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S6. Blood NK Cell Immunoregulatory Phenotype Acquisition at IT→IA Transition. Donor-level expression of three IA-emergent genes in blood NK cells across disease groups: (A) TGFB1 (IT→IA ★↑43.9%, p=0.016, 20/20; NL→IT NS), (B) SERPINE1 (IT→IA ★↑341.4%, p=0.016, 20/20; NL→IT NS), (C) ID3 (IT→IA ★↑770.3%, p=0.032, 19/20; NL→IT NS). All three genes were non-significant at NL→IT and became significant only at the IT→IA transition (IA-emergent pattern), suggesting that blood NK cells progressively acquire an immunoregulatory phenotype during disease progression from IT to IA. TGFB1 and SERPINE1 (PAI-1) are associated with TGF-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mediated immunosuppression, while ID3 is a transcriptional repressor of effector differentiation. Blue triangles: individual blood donors; horizontal bars: group means. Mann-Whitney U test; ★p&lt;0.05. Panels: 3 (A–C)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74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Supplementary Figure S7. Three Distinct Patterns of IA vs AR Immune Divergence in the Context of IT-Phase Origins. Donor-level expression across the disease spectrum (NL, IT, IA, AR, CR) for representative genes illustrating three patterns identified in the IA vs AR comparison (Supplementary Table S4A). (A) IT-inherited pattern: FOXP3 in liver CD4+ T cells. FOXP3 trended upward 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 IT (NL-&gt;IT (t)p=0.093), reached significance in IA (NL-&gt;IA *p=0.004), while AR remained at NL levels, yielding a significant IA-AR difference (*p=0.036). This progressive accumulation across IT-&gt;IA, absent in AR, indicates that Treg expansion is initiated during the IT phase and amplified through IA. (B) IA-emergent pattern: TIGIT in blood myeloid cells. TIGIT was not elevated in IT (NL-&gt;IT NS) but emerged as significant only in IA (NL-&gt;IA *p=0.011), with AR at NL levels (IA vs AR *p=0.050). This pattern represents newly acquired myeloid checkpoint expression independent of IT-phase origins. (C) AR-advantage pattern: GNLY in blood CD8+ T cells. Neither IT nor IA showed significant GNLY changes from NL, whereas AR demonstrated marked upregulation (NL-&gt;AR *p=0.036), indicating that effective cytotoxic function is uniquely preserved in acute self-limited resolution. Liver panels: red circles; Blood panels: blue triangles. Individual donor values with group means (horizontal bars). Significance brackets: red = NL-&gt;IA, gray = NL-&gt;IT (NS or trend), blue = IA vs AR, green = NL-&gt;AR. Mann-Whitney U test; *p&lt;0.05, (t)p&lt;0.10. Panels: 3 (A-C)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01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S8. Additional BCR/TCR Repertoire Findings. (A) Maximum BCR clone size in blood across disease groups. IT showed significantly increased top clone size compared with NL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(NL 1.0 → IT 3.0 cells, ★p=0.006, 25/25), a chronic-persistent pattern (NL→IA ★p=0.010), indicating minimal but statistically significant clonal expansion in blood BCR beginning at IT. (B) B_c07-FCRL5 (exhausted/atypical memory B cell) proportion in liver. FCRL5+ B cells showed a trend toward IT enrichment (NL 13.0% → IT 28.2%, †p=0.052, 26/30), suggesting accumulation of functionally impaired B cells in the hepatic microenvironment. (C) plasmaB_c03-MKI67 (proliferating plasma cell) proportion in liver. MKI67+ plasma cells showed a trend toward IT depletion (NL 8.2% → IT 1.4%, †p=0.082, 25/30), consistent with suppressed plasma cell proliferation during the IT phase. (D) BCR isotype distribution (IgM, IgG, IgA,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by stage and tissue. Liver showed higher class-switched 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IgG+IgA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proportions than blood across all stages. In blood,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depletion at IT (★p=0.016) was the most prominent isotype shift. Vertical dashed line separates liver (left) from blood (right). Blue triangles = blood; red circles = liver. Mann-Whitney U test; ★p&lt;0.05, †p&lt;0.10. Panels: 4 (A–D)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3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E833-CA90-BC66-4B1D-74A1CFC31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293E4-3B41-3B37-0B0B-3B0EE858A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69A3F-EA62-54AF-2766-5F2AECC28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447D7-89EB-2C54-87AD-26BA8C515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51052-A40A-A0F0-AF23-F18C90FB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6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070D-E17D-02B4-39F0-1240B520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9562-CCB2-AA69-D2D9-9D66EF633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3D1C6-818A-599A-FC74-9344FBC7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E9F6D-8ED2-8456-2491-37EF04A0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28514-1CC8-898A-673D-6790D9D3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70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470A-D258-9BBA-1F7C-0AA263C9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B7908-7E71-166D-8CE0-927E853C1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927F1-10F0-B296-965D-360D1E73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AA4E0-1FF3-20B9-CA58-F17E14B0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41A48-C0F9-BF5B-CCCC-958ED829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4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377B-B6EC-226D-DA06-021CDD00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AD011-F41E-E04B-946C-912E445B3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D47D4-8874-E6EA-AFD1-5172E31C5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CCA50-148D-A297-9562-FE6832A1B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8A4D-BA1D-48D6-9751-89757B74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6125B-B16D-AF57-8BB9-720FD550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5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DFBA8-5366-0DE3-A29E-02C566A4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117B8-CFAB-6BC3-8E19-18813CCA2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42481-B59C-917E-1F9F-8E538EE38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57476-00E0-707A-A25D-FCEF1ABDEB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5CE6A-CB19-6187-0649-DDA775B24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DF0F8F-42FC-2069-FC71-2A4E2B04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D5D9B0-70C2-2BBD-5235-35188B79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603B39-B3C2-0FB8-BAA4-19DC1969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02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4450-3F0B-8AFF-B7D9-ECA6A630B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61A60-1C16-A236-BC8D-FA80905D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9A320-D971-2B02-C7DA-6106C5F7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3AAAA-4766-4338-21A0-CAFBAA1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1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56D21-7F3E-DBC4-86E7-500C0C5E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8C60B-5B43-2F08-068C-89BEFB80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8D90-3BD1-F912-DCE6-1C050729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2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8156-2BDB-E3A2-D3B8-7AF23C36B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3AFEB-E9FD-8696-2415-6DB30F7C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1D659-F16A-13CB-E065-274591382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FEF0B-9CA4-DF9D-F7E7-E4FD66DE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AD59E-92D7-71EE-587C-0D1786CA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3580E-B6D8-880B-A947-D700B3C2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3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DCC5-CB3D-2571-8313-BD2012A3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05B45-2547-3E46-046A-D0B9B614B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0E966-D576-D1AA-5791-5D396D428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EB9C1-BD8B-79C4-C6DA-F223097D4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0DBDF-4DBA-AC17-A0AD-9B3CC8A4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C7608-8FA0-DDFD-B785-48049DE9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2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C796-11C6-2594-01C4-C69ECF01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23FC1-1980-F70C-1DF8-35909D3E1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1131D-5A78-B9FB-3D34-33296BBE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0BEE0-FDAA-94A2-DF15-ED5D585A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60D5A-A6CF-215E-10A5-F7486265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7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D7975-B228-9C3B-A34F-BF6A6409F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611B4-4F35-C50A-0ACA-75637C593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0EA79-0412-06FC-02E9-D147B0EC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0E6CD-2241-816E-D166-530C9097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4A12E-2A29-8255-FE88-F50960F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85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27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00F19-8CD0-0235-9B8F-03955BA8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6EF48-DA3A-2E4F-4918-4E71F8712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42638-C5E0-B260-3CCF-9CA59843C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BC874-E2E1-4396-82BC-4E9D80A65C8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D5CF6-3F29-A602-0CA8-A7A6F7F54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2AFB1-B9A3-A5DA-3DC5-C82447D8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0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A17BD16-A847-9831-925E-3BCCB9478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5488"/>
            <a:ext cx="12192000" cy="540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68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17FFEDE-5CD9-E1D6-A4B5-B5F0F672F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0"/>
            <a:ext cx="102219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65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97016EB-6B40-254A-2531-83495DE15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0"/>
            <a:ext cx="8221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827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0D1B802-9203-4939-8EE2-58A147A8A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63" y="0"/>
            <a:ext cx="82184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710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A36BB9-9DC7-9D06-0503-5142AEFA5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179" y="51229"/>
            <a:ext cx="9415641" cy="675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78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1891182-0209-01FE-A3FD-C2B874844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3988"/>
            <a:ext cx="121920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96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BDFF7F-E325-B53F-2B7F-AEE174970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52" y="0"/>
            <a:ext cx="11933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9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7BBD3AC-A8B9-3317-55D2-C154760B3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0"/>
            <a:ext cx="8796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726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5FB2B-E96F-F023-E177-FB8FDCA1F7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" t="1666" b="2846"/>
          <a:stretch>
            <a:fillRect/>
          </a:stretch>
        </p:blipFill>
        <p:spPr>
          <a:xfrm>
            <a:off x="377952" y="182879"/>
            <a:ext cx="11443372" cy="641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51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E95445-7B41-A627-3B0F-875780B079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" t="1244" r="664"/>
          <a:stretch>
            <a:fillRect/>
          </a:stretch>
        </p:blipFill>
        <p:spPr>
          <a:xfrm>
            <a:off x="1438656" y="85344"/>
            <a:ext cx="10082784" cy="677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72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5C07D9-DD64-D563-E0D6-E10ACEC51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81050"/>
            <a:ext cx="11430000" cy="529590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3829C426-A7E5-CDAD-DCD5-204A453D549F}"/>
              </a:ext>
            </a:extLst>
          </p:cNvPr>
          <p:cNvSpPr/>
          <p:nvPr/>
        </p:nvSpPr>
        <p:spPr>
          <a:xfrm>
            <a:off x="304800" y="20574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/>
              <a:t>Supplementary Figure S1. UMAP — 7 Immune Lineages &amp; 59 Subclusters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2BA27C-608E-09CD-2C75-90E40A64A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3" y="1862051"/>
            <a:ext cx="11925993" cy="3133898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DA44E860-9ED5-7B6B-3256-A3F1DA765B5C}"/>
              </a:ext>
            </a:extLst>
          </p:cNvPr>
          <p:cNvSpPr/>
          <p:nvPr/>
        </p:nvSpPr>
        <p:spPr>
          <a:xfrm>
            <a:off x="514817" y="696751"/>
            <a:ext cx="1120046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/>
              <a:t>Supplementary Figure S2. UMAP — Study Group Distribution on UMAP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C50FC-2703-22D9-4A9E-ACCE3E28B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09" y="1191763"/>
            <a:ext cx="10881382" cy="447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10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1DA7-716E-D773-FD01-4712EF84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FEE09F-AA74-0682-4262-7D36A6030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09" y="1194811"/>
            <a:ext cx="10881382" cy="446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95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FF33-7682-1F1A-DA63-CF915B58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282641-FF98-8513-CBF1-BF7CAFA7D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1566"/>
            <a:ext cx="12192000" cy="359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85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D1ECCA2-4464-9DDD-903B-1DA002127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2400"/>
            <a:ext cx="12192000" cy="401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215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0602857-BC0F-0779-4626-39E47B8EA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0"/>
            <a:ext cx="8796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592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2554</TotalTime>
  <Words>2452</Words>
  <Application>Microsoft Office PowerPoint</Application>
  <PresentationFormat>Widescreen</PresentationFormat>
  <Paragraphs>35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 MIN</dc:creator>
  <cp:lastModifiedBy>YOUNG MIN</cp:lastModifiedBy>
  <cp:revision>9</cp:revision>
  <dcterms:created xsi:type="dcterms:W3CDTF">2026-03-09T02:36:00Z</dcterms:created>
  <dcterms:modified xsi:type="dcterms:W3CDTF">2026-03-15T05:59:18Z</dcterms:modified>
</cp:coreProperties>
</file>