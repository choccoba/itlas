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3" r:id="rId2"/>
    <p:sldId id="268" r:id="rId3"/>
    <p:sldId id="273" r:id="rId4"/>
    <p:sldId id="274" r:id="rId5"/>
    <p:sldId id="264" r:id="rId6"/>
    <p:sldId id="265" r:id="rId7"/>
    <p:sldId id="266" r:id="rId8"/>
    <p:sldId id="285" r:id="rId9"/>
    <p:sldId id="277" r:id="rId10"/>
    <p:sldId id="278" r:id="rId11"/>
    <p:sldId id="279" r:id="rId12"/>
    <p:sldId id="286" r:id="rId13"/>
    <p:sldId id="293" r:id="rId14"/>
    <p:sldId id="269" r:id="rId15"/>
    <p:sldId id="272" r:id="rId16"/>
    <p:sldId id="287" r:id="rId17"/>
    <p:sldId id="281" r:id="rId18"/>
    <p:sldId id="292" r:id="rId19"/>
    <p:sldId id="291" r:id="rId20"/>
    <p:sldId id="290" r:id="rId21"/>
    <p:sldId id="289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56" autoAdjust="0"/>
    <p:restoredTop sz="77790" autoAdjust="0"/>
  </p:normalViewPr>
  <p:slideViewPr>
    <p:cSldViewPr snapToGrid="0">
      <p:cViewPr varScale="1">
        <p:scale>
          <a:sx n="81" d="100"/>
          <a:sy n="81" d="100"/>
        </p:scale>
        <p:origin x="522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C877-A59C-4E8F-A50A-9472F1315D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E2D08-2437-430E-BBC9-ADA4B104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Key Sig Changes = key significant changes;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Donor-level means (%). Mann-Whitney U tests (two-sided) vs NL; ★p&lt;0.05. Liver: NL n=6, IT n=6, IA n=5, AR n=3, CR n=3. Blood: NL n=5, IT n=5, IA n=4, AR n=3, CR n=3. The chronic HBV disease stages (IT→IA→CR) represent sequential phases of vertical infection. AR is an independent comparator of adult-onset acute self-limited hepatitis B.; B: 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70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148-gene panel (C5). Donor-level Mann-Whitney U tests. IT-specific: NL→IT p&lt;0.05, NL→IA p≥0.05. C5 148-gene panel (C3-only genes noted where applicable). Donor-level Mann-Whitney U tests. Percent change computed from donor-level mean log-normalized expression values (log1p-transformed counts per 10,000) and does not represent raw count fold changes. IT-specific: NL→IT significant (p&lt;0.05) with NL→IA non-significant (p≥0.05). "NS" indicates p≥0.05 for that tissue. Consistency: number of donor pairs in which IT donor showed higher (or lower for ↓) expression than NL donor, out of total possible pairs.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66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Panel A: BCR repertoire metrics. Panel B: TCR repertoire metrics. Values represent donor-level means ± SD. Clonality = 1 − (Shannon entropy / log2(</a:t>
            </a:r>
            <a:r>
              <a:rPr lang="en-US" sz="1200" dirty="0" err="1"/>
              <a:t>n_unique_clones</a:t>
            </a:r>
            <a:r>
              <a:rPr lang="en-US" sz="1200" dirty="0"/>
              <a:t>)); range 0 (all singletons) to 1 (single dominant clone). Singleton% = percentage of clones represented by a single cell. Class-switched% = IgG% + IgA%. </a:t>
            </a:r>
            <a:r>
              <a:rPr lang="en-US" sz="1200" dirty="0" err="1"/>
              <a:t>TopCloneSize</a:t>
            </a:r>
            <a:r>
              <a:rPr lang="en-US" sz="1200" dirty="0"/>
              <a:t> = number of cells in the largest clone. BCR data represent heavy chain (IGH) only; TCR data represent alpha chain (TRA) only. CR group had no BCR/TCR V(D)J library data available. AR data (n=1 for liver; n=1 for blood in BCR; n=1 each in TCR) are shown for reference but excluded from statistical testing due to insufficient sample size. Statistical comparisons are reported in the text (Result 5) and Supplementary Table S11; IT, immune tolerant; IA, immune active; AR, acute resolved; CR, chronic resolved.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61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AUCell</a:t>
            </a:r>
            <a:r>
              <a:rPr lang="en-US" dirty="0"/>
              <a:t> scoring of 29 immunological gene sets across 6 lineages in liver and blood. Donor-level Mann-Whitney U tests (two-sided). ★★p&lt;0.01, ★p&lt;0.05, †p&lt;0.10, NS: not significant. Consistency: donor-pair consistency count. Gene set definitions in Supplementary file C0_29pathway_gene_sets.csv.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51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AUCell</a:t>
            </a:r>
            <a:r>
              <a:rPr lang="en-US" sz="1200" dirty="0"/>
              <a:t> pathway scoring with donor-level Mann-Whitney U tests. All 7 comparisons. </a:t>
            </a:r>
            <a:r>
              <a:rPr lang="en-US" sz="1200" dirty="0" err="1"/>
              <a:t>AUCell</a:t>
            </a:r>
            <a:r>
              <a:rPr lang="en-US" sz="1200" dirty="0"/>
              <a:t> scoring of 29 immunological gene sets across 6 lineages in liver and blood. Donor-level Mann-Whitney U tests (two-sided). ★★p&lt;0.01, ★p&lt;0.05, †p&lt;0.10, NS: not significant. Consistency: donor-pair consistency count.</a:t>
            </a:r>
            <a:r>
              <a:rPr lang="en-US" sz="1200" dirty="0">
                <a:effectLst/>
              </a:rPr>
              <a:t> 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0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C3: 196 genes; C5: 148 genes; C9B: 19 genes. C3∩C5 shared: 81 genes. C3∪C5: 263 genes..; C3: 196-gene broad screen; C5: 148-gene refined panel; C9B: 19 critical genes re-verified with stratified FDR. C3∩C5 shared: 81 genes. C3∪C5 gene universe: 263 genes. RPS6KB1 absent from h5ad file (178 of 179 pathway genes present).</a:t>
            </a:r>
            <a:r>
              <a:rPr lang="en-US" sz="1200" dirty="0">
                <a:effectLst/>
              </a:rPr>
              <a:t> 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65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Donor-level Mann-Whitney U tests for 24 transition-relevant genes across 4 lineages (Myeloid, CD4+ T, CD8+ T, NK) in both liver and blood. Two comparisons shown for each gene-lineage-tissue combination: NL→IT (IT-phase context) and IT→IA (transition). Each cell reports percent change and p-value. Patterns defined as: TRANSITION (NL→IT significant AND IT→IA significant with opposite direction — true reversal), IT-persistent (NL→IT significant, IT→IA non-significant — IT changes maintained into IA), IA-emergent (NL→IT non-significant, IT→IA significant — new changes at IA), Chronic (NL→IA significant only). Only combinations with at least one significant comparison (p&lt;0.05) are included (65 of 192 tested). Genes tested: TGFB1, ID3, SERPINE1, TOX, GZMK, SNAI1, SOCS1, SOCS3, LAYN, TOX2, LGALS9, AIM2, MEFV, DNMT1, DNMT3A, TET2, JAK1, MTOR, PRDM1, FOXP3, GNLY, TIGIT, CTLA4, BCL6. Statistical test: Mann-Whitney U, two-sided, donor-level means. *p&lt;0.05, (t) p&lt;0.10. Pattern distribution: TRANSITION n=1 (TOX Myeloid Liver), IT-persistent n=41, IA-emergent n=6, Chronic n=17.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78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Genes showing significant (p&lt;0.05) or trend-level (p&lt;0.10) differences between IA and AR in direct comparison, with NL→IT, NL→IA, and NL→AR trajectories shown for each gene-lineage-tissue combination to provide IT-phase context. Each comparison reports percent change, p-value (Mann-Whitney U, two-sided, donor-level means), and significance (*p&lt;0.05, (t) p&lt;0.10). Pattern classification based on disease trajectory: IT-inherited (NL→IT trending or significant AND NL→IA significant, NL→AR non-significant — suppressive programs initiated in IT and amplified through IA), IA-emergent (NL→IT non-significant, NL→IA significant, NL→AR non-significant — dysregulation newly acquired at IA), AR-advantage (NL→AR significant with higher expression in AR — effective function unique to acute resolution), IT-specific (NL→IT significant, NL→IA non-significant), Complex (does not fit above categories). 15 gene-lineage-tissue combinations from 24 tested genes across 4 lineages (Myeloid, CD4+ T, CD8+ T, NK, B, </a:t>
            </a:r>
            <a:r>
              <a:rPr lang="en-US" dirty="0" err="1"/>
              <a:t>PlasmaB</a:t>
            </a:r>
            <a:r>
              <a:rPr lang="en-US" dirty="0"/>
              <a:t>) and 2 tissues (Liver, Blood).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71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Donor-level Mann-Whitney U tests for 30 genes across 6 lineages (Myeloid, CD4+ T, CD8+ T, NK, B, </a:t>
            </a:r>
            <a:r>
              <a:rPr lang="en-US" dirty="0" err="1"/>
              <a:t>PlasmaB</a:t>
            </a:r>
            <a:r>
              <a:rPr lang="en-US" dirty="0"/>
              <a:t>) in both liver and blood. Three comparisons shown for each gene-lineage-tissue combination: NL→IT (IT-phase context), NL→IA (IA-phase context), and NL→CR (CR-phase status), enabling trajectory classification. Only combinations with at least one significant comparison (p&lt;0.05) among IT, IA, or CR are included (116 of 360 tested).</a:t>
            </a:r>
          </a:p>
          <a:p>
            <a:pPr>
              <a:buNone/>
            </a:pPr>
            <a:r>
              <a:rPr lang="en-US" b="1" dirty="0"/>
              <a:t>Pattern definitions: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IT-persistent</a:t>
            </a:r>
            <a:r>
              <a:rPr lang="en-US" dirty="0"/>
              <a:t> (n=33): NL→IT significant AND NL→CR significant in the same direction — changes originating in IT that persist beyond clinical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Resolved at CR</a:t>
            </a:r>
            <a:r>
              <a:rPr lang="en-US" dirty="0"/>
              <a:t> (n=29): NL→IT significant, NL→CR non-significant — IT-phase changes no longer present after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CR-unique</a:t>
            </a:r>
            <a:r>
              <a:rPr lang="en-US" dirty="0"/>
              <a:t> (n=27): NL→IT NS, NL→IA NS, NL→CR significant — novel alterations specific to the resolved state, absent during active disease phases.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IA-persistent</a:t>
            </a:r>
            <a:r>
              <a:rPr lang="en-US" dirty="0"/>
              <a:t> (n=13): NL→IT NS, NL→IA significant, NL→CR significant — changes first appearing at IA and persisting to CR.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Other</a:t>
            </a:r>
            <a:r>
              <a:rPr lang="en-US" dirty="0"/>
              <a:t> (n=14): Combinations not fitting the above categories.</a:t>
            </a:r>
          </a:p>
          <a:p>
            <a:pPr>
              <a:buNone/>
            </a:pPr>
            <a:r>
              <a:rPr lang="en-US" dirty="0"/>
              <a:t>Genes tested: MEFV, COL1A1, FN1, NLRP3, DNMT3A, GNLY, TGFB1, LGALS9, DNMT1, TET2, MTOR, LDHA, SOCS1, SOCS3, TOX, LAYN, PRDM1, RORC, JAK1, AIM2, FOXP3, TIGIT, BCL6, GZMB, GZMK, PRF1, TYROBP, FCER1G, BAK1, HLA-DPB1. Statistical test: Mann-Whitney U, two-sided, donor-level means. *p&lt;0.05, (t) p&lt;0.10.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53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1200" i="1" dirty="0">
                <a:solidFill>
                  <a:srgbClr val="333333"/>
                </a:solidFill>
                <a:latin typeface="Arial" panose="020B0604020202020204" pitchFamily="34" charset="0"/>
              </a:rPr>
              <a:t>All genes donor-level tested (Mann-Whitney U). C10 per-cell validation from existing Oaxaca-Blinder decomposition.</a:t>
            </a: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genes tested with donor-level Mann-Whitney U tests (two-sided). Tier 2: nominal p&lt;0.05 with effect size and donor-pair consistency (no individual gene or pathway results survived FDR correction at donor-level sample sizes of n=5 vs n=5; see Methods 4.2). C10 Per-cell%: percentage of lineage-level expression change attributable to genuine per-cell changes (vs subcluster composition shifts) by Oaxaca-Blinder decomposition. LDHA (35%, italic) indicates mixed attribution with substantial composition contribution. SOCS1/SOCS3 are C3-only genes (not in C5 148-gene panel); analyzed in C9B with stratified FDR.</a:t>
            </a:r>
            <a:r>
              <a:rPr lang="en-US" sz="1200" dirty="0">
                <a:effectLst/>
              </a:rPr>
              <a:t> 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5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AUCell</a:t>
            </a:r>
            <a:r>
              <a:rPr lang="en-US" dirty="0"/>
              <a:t> pathway scoring (29 gene sets) with donor-level Mann-Whitney U tests at NL→IT. Only pathways with significant change (p&lt;0.05) in at least one tissue AND opposite direction in the other tissue are shown. ★p&lt;0.05, †p&lt;0.10. Positive values indicate upregulation in IT relative to 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65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baseline="0" dirty="0">
                <a:solidFill>
                  <a:srgbClr val="333333"/>
                </a:solidFill>
                <a:latin typeface="Arial" panose="020B0604020202020204" pitchFamily="34" charset="0"/>
              </a:rPr>
              <a:t>Genes ranked by total number of significant tests (p&lt;0.05) across 2 tissues × 6 lineages × 7 comparisons (maximum possible = 84 per gene). C5 148-gene panel with donor-level Mann-Whitney U tests. Lineages and tissues count the number of distinct lineages and tissue compartments in which the gene reached significance. 	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					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54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Oaxaca-Blinder decomposition applied to 196 genes × 6 lineages × 2 tissues for each pairwise comparison. Per-cell dominant: &gt;50% of expression change attributable to within-subcluster per-cell changes. Composition dominant: &gt;50% attributable to subcluster proportion shifts.</a:t>
            </a:r>
            <a:r>
              <a:rPr lang="en-US" sz="1200" dirty="0">
                <a:effectLst/>
              </a:rPr>
              <a:t> 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3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CR-specific: NL→CR significant (p&lt;0.05) with NL→IA non-significant (p≥0.05). "From zero (NL=0)" indicates the gene had zero or near-zero mean expression at NL baseline and was newly expressed at CR, yielding mathematically undefined fold change. "Normal Lineage" indicates the cell type in which this gene is conventionally expressed; expression in the listed lineage is considered aberrant.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81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effectLst/>
              </a:rPr>
              <a:t>Individual donor values for all BCR and </a:t>
            </a:r>
            <a:r>
              <a:rPr lang="en-US" b="0" dirty="0" err="1">
                <a:effectLst/>
              </a:rPr>
              <a:t>TCRrepertoire</a:t>
            </a:r>
            <a:r>
              <a:rPr lang="en-US" b="0" dirty="0">
                <a:effectLst/>
              </a:rPr>
              <a:t> metrics, and B/</a:t>
            </a:r>
            <a:r>
              <a:rPr lang="en-US" b="0" dirty="0" err="1">
                <a:effectLst/>
              </a:rPr>
              <a:t>PlasmaB</a:t>
            </a:r>
            <a:r>
              <a:rPr lang="en-US" b="0" dirty="0">
                <a:effectLst/>
              </a:rPr>
              <a:t> subcluster proportions, separated by tissue (liver, blood) and disease group. Clonality calculated using safe Shannon entropy (log2(0) protected). </a:t>
            </a:r>
            <a:r>
              <a:rPr lang="en-US" b="0" dirty="0" err="1">
                <a:effectLst/>
              </a:rPr>
              <a:t>n_unique_clones</a:t>
            </a:r>
            <a:r>
              <a:rPr lang="en-US" b="0" dirty="0">
                <a:effectLst/>
              </a:rPr>
              <a:t> = number of distinct clonotypes per donor per tissue.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5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Mann-Whitney U test results for 52 comparisons across BCR repertoire (22 tests), TCR repertoire (10 tests), and B/</a:t>
            </a:r>
            <a:r>
              <a:rPr lang="en-US" dirty="0" err="1"/>
              <a:t>PlasmaB</a:t>
            </a:r>
            <a:r>
              <a:rPr lang="en-US" dirty="0"/>
              <a:t> subcluster proportions (20 tests), each tested in liver and blood separately. For each metric, three comparisons are shown: NL→IT, IT→IA, and NL→IA. Pattern classification: IT-REVERSAL (NL→IT and IT→IA significant, opposite directions), IT-AMPLIFIED (same directions), IT-SPECIFIC-RESOLVED (NL→IT sig, NL→IA NS), IA-EMERGENT (NL→IT NS, IT→IA and NL→IA sig), TRANSITION (IT→IA sig only), CHRONIC-PERSISTENT (NL→IT and NL→IA sig), NS (none significant). ★p&lt;0.05; †p&lt;0.10; Mann-Whitney U test, two-sided.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8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8A21-80C9-29A3-B832-95DC78A03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D1258-C2AE-1DF2-390E-63940C2CE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18DF-1B94-D469-2D26-A3106AC3D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5910D-A3AC-BCD9-1543-02348310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FE293-075E-3F30-E8EE-14978032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8654-0573-6316-AED8-9BF0161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711D-71AF-EB01-7AA9-93A753FCF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5BE5C-AEB9-F702-DB9F-4550A513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31ABF-1BBB-26F2-DD83-5AC2B404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4DC2-A9C0-8ADE-3FFB-F8781E7B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7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296D-C434-2698-79A0-7A7F6329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E160-CA51-AC84-BF6D-FEA6EB282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925F-5DA1-AC11-6891-83A4484F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6F6F2-B3E4-6825-B197-7847AD91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8B64E-D54A-1945-A98F-CE3DD24A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9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1EA5-304A-E407-1CF6-ECD7BF1C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3B46-C072-865B-5292-EBE1D296F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FDE06-06E6-D074-1063-65D622BD8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763AA-16CE-9A6A-48AD-0945BB92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E600-253A-2849-CF6F-D61490B6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EEDD7-7200-1720-F538-D3B7697A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7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594C-9B3D-8BBD-9419-CB5F57F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172A6-7638-ACCC-7F98-E2CF9EAA7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E6FB9-385F-C6CF-58D5-E3C5826A9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886A5-0F95-322A-2063-E577DDBDC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D278C-7633-38F3-F371-1231A87F4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E9B7E-B2D4-F305-2A9B-591B279F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BB9DA-3517-ACED-5AEC-284D351B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0E170-032B-5D87-7EFD-C87D1F28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2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2342-A7AB-20EB-FE82-C030B44A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6CA09-AA04-9CFC-7A15-62AE2B98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F0252-3C8E-A6D6-5956-9C7EB143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04153-AADE-ED84-3449-D0146950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9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AFBB8-56DB-EB03-750B-E62E56AE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41F38-D664-6521-1601-0833A573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E4DAC-99BE-0D00-C10E-C7E8D985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1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4312-4A65-4025-21A3-DA6FBCC5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9DCAD-7001-15BB-0930-1F410967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95DE1-4E6D-79B4-79BA-042CA1DD1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29C19-AE24-7CF1-980B-2D606E66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4C703-858D-C9DA-9A28-013DE9AA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5C9D6-C48C-D46C-6887-5C0AEF9B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48F3-6C1B-01D2-D5E4-564AE88C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6304B-E07A-A1DC-4857-6934A6289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B924-7A9C-6BDD-0756-D8497B365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658B1-8BBF-2DF0-7F05-E2F596E5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1E5BB-B4DB-9BB8-5941-00133B93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F8AF7-C603-D7E8-3E2D-F6123367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4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1C24-E1CF-5080-8BBA-322AC4D5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779A7-A935-43A5-52C2-78B403400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FBF83-AD30-7767-6ED6-4972D342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28BA-A121-C029-598D-B7867F7A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040C-255A-E9EF-4C1E-E158B578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7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D4DEB1-6C61-2C06-5FC3-8F82AE7CB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DA2F3-C1F9-5016-C214-EBDD089BC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77759-7AA7-1FC4-325F-AA5AC5F5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1311-410A-09DA-9E7D-8B4A5556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5D023-0A09-0BC3-9A44-DD68C5EE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16845-62DE-F7F4-7B4D-053E5E1B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3F40D-7DAE-F8BE-864C-021FFE39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83E8-4145-79DC-457E-87605C7B4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72699-E1F2-4C6E-B360-A98E783D68D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C9666-5A60-8854-F5EE-1331527BD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068B-37C5-9A76-E256-7D9A5DD41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3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C90604-7114-47FC-64A8-AD6412C83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4641"/>
              </p:ext>
            </p:extLst>
          </p:nvPr>
        </p:nvGraphicFramePr>
        <p:xfrm>
          <a:off x="2019299" y="2329656"/>
          <a:ext cx="8153401" cy="3343275"/>
        </p:xfrm>
        <a:graphic>
          <a:graphicData uri="http://schemas.openxmlformats.org/drawingml/2006/table">
            <a:tbl>
              <a:tblPr/>
              <a:tblGrid>
                <a:gridCol w="799789">
                  <a:extLst>
                    <a:ext uri="{9D8B030D-6E8A-4147-A177-3AD203B41FA5}">
                      <a16:colId xmlns:a16="http://schemas.microsoft.com/office/drawing/2014/main" val="1732557074"/>
                    </a:ext>
                  </a:extLst>
                </a:gridCol>
                <a:gridCol w="837874">
                  <a:extLst>
                    <a:ext uri="{9D8B030D-6E8A-4147-A177-3AD203B41FA5}">
                      <a16:colId xmlns:a16="http://schemas.microsoft.com/office/drawing/2014/main" val="1234964156"/>
                    </a:ext>
                  </a:extLst>
                </a:gridCol>
                <a:gridCol w="837874">
                  <a:extLst>
                    <a:ext uri="{9D8B030D-6E8A-4147-A177-3AD203B41FA5}">
                      <a16:colId xmlns:a16="http://schemas.microsoft.com/office/drawing/2014/main" val="802466180"/>
                    </a:ext>
                  </a:extLst>
                </a:gridCol>
                <a:gridCol w="837874">
                  <a:extLst>
                    <a:ext uri="{9D8B030D-6E8A-4147-A177-3AD203B41FA5}">
                      <a16:colId xmlns:a16="http://schemas.microsoft.com/office/drawing/2014/main" val="1320344408"/>
                    </a:ext>
                  </a:extLst>
                </a:gridCol>
                <a:gridCol w="837874">
                  <a:extLst>
                    <a:ext uri="{9D8B030D-6E8A-4147-A177-3AD203B41FA5}">
                      <a16:colId xmlns:a16="http://schemas.microsoft.com/office/drawing/2014/main" val="2132721268"/>
                    </a:ext>
                  </a:extLst>
                </a:gridCol>
                <a:gridCol w="837874">
                  <a:extLst>
                    <a:ext uri="{9D8B030D-6E8A-4147-A177-3AD203B41FA5}">
                      <a16:colId xmlns:a16="http://schemas.microsoft.com/office/drawing/2014/main" val="3771678261"/>
                    </a:ext>
                  </a:extLst>
                </a:gridCol>
                <a:gridCol w="828352">
                  <a:extLst>
                    <a:ext uri="{9D8B030D-6E8A-4147-A177-3AD203B41FA5}">
                      <a16:colId xmlns:a16="http://schemas.microsoft.com/office/drawing/2014/main" val="3162895881"/>
                    </a:ext>
                  </a:extLst>
                </a:gridCol>
                <a:gridCol w="2335890">
                  <a:extLst>
                    <a:ext uri="{9D8B030D-6E8A-4147-A177-3AD203B41FA5}">
                      <a16:colId xmlns:a16="http://schemas.microsoft.com/office/drawing/2014/main" val="4025646769"/>
                    </a:ext>
                  </a:extLst>
                </a:gridCol>
              </a:tblGrid>
              <a:tr h="200025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Table 1. Immune Cell Proportions Across Disease Groups in Liver and 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712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51649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Sig Changes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991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NL→IT ★p=0.026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8429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4230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CD4+ 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6208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NL→CR ★p=0.036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4475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CD8+ 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NL→AR ★p=0.024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3641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100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NL→IA ★p=0.017, NL→AR ★p=0.024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6397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NL→CR ★p=0.036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59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5767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NL→CR ★p=0.036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203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0328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7466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591405"/>
                  </a:ext>
                </a:extLst>
              </a:tr>
              <a:tr h="190500">
                <a:tc gridSpan="8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Donor-level means (%). Mann-Whitney U test vs NL; ★p&lt;0.05. Liver n: NL=6, IT=6, IA=5, AR=3, CR=3. Blood n: NL=5, IT=5, IA=4, AR=3, CR=3.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18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4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65148A-D7F2-B091-3147-AEC1F3753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509642"/>
              </p:ext>
            </p:extLst>
          </p:nvPr>
        </p:nvGraphicFramePr>
        <p:xfrm>
          <a:off x="1805050" y="2029619"/>
          <a:ext cx="6994566" cy="4067175"/>
        </p:xfrm>
        <a:graphic>
          <a:graphicData uri="http://schemas.openxmlformats.org/drawingml/2006/table">
            <a:tbl>
              <a:tblPr/>
              <a:tblGrid>
                <a:gridCol w="574602">
                  <a:extLst>
                    <a:ext uri="{9D8B030D-6E8A-4147-A177-3AD203B41FA5}">
                      <a16:colId xmlns:a16="http://schemas.microsoft.com/office/drawing/2014/main" val="1665451408"/>
                    </a:ext>
                  </a:extLst>
                </a:gridCol>
                <a:gridCol w="591709">
                  <a:extLst>
                    <a:ext uri="{9D8B030D-6E8A-4147-A177-3AD203B41FA5}">
                      <a16:colId xmlns:a16="http://schemas.microsoft.com/office/drawing/2014/main" val="2116670618"/>
                    </a:ext>
                  </a:extLst>
                </a:gridCol>
                <a:gridCol w="1429479">
                  <a:extLst>
                    <a:ext uri="{9D8B030D-6E8A-4147-A177-3AD203B41FA5}">
                      <a16:colId xmlns:a16="http://schemas.microsoft.com/office/drawing/2014/main" val="1298925649"/>
                    </a:ext>
                  </a:extLst>
                </a:gridCol>
                <a:gridCol w="1178020">
                  <a:extLst>
                    <a:ext uri="{9D8B030D-6E8A-4147-A177-3AD203B41FA5}">
                      <a16:colId xmlns:a16="http://schemas.microsoft.com/office/drawing/2014/main" val="809051538"/>
                    </a:ext>
                  </a:extLst>
                </a:gridCol>
                <a:gridCol w="751927">
                  <a:extLst>
                    <a:ext uri="{9D8B030D-6E8A-4147-A177-3AD203B41FA5}">
                      <a16:colId xmlns:a16="http://schemas.microsoft.com/office/drawing/2014/main" val="454696795"/>
                    </a:ext>
                  </a:extLst>
                </a:gridCol>
                <a:gridCol w="964974">
                  <a:extLst>
                    <a:ext uri="{9D8B030D-6E8A-4147-A177-3AD203B41FA5}">
                      <a16:colId xmlns:a16="http://schemas.microsoft.com/office/drawing/2014/main" val="454828672"/>
                    </a:ext>
                  </a:extLst>
                </a:gridCol>
                <a:gridCol w="657002">
                  <a:extLst>
                    <a:ext uri="{9D8B030D-6E8A-4147-A177-3AD203B41FA5}">
                      <a16:colId xmlns:a16="http://schemas.microsoft.com/office/drawing/2014/main" val="2702667843"/>
                    </a:ext>
                  </a:extLst>
                </a:gridCol>
                <a:gridCol w="846853">
                  <a:extLst>
                    <a:ext uri="{9D8B030D-6E8A-4147-A177-3AD203B41FA5}">
                      <a16:colId xmlns:a16="http://schemas.microsoft.com/office/drawing/2014/main" val="3344595626"/>
                    </a:ext>
                  </a:extLst>
                </a:gridCol>
              </a:tblGrid>
              <a:tr h="200025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Table 2. IT-Specific Individual Gene Markers (Top Candidates by Tissue)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70786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4124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IT% (p)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 IT% (p)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IT-Specific?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Consistency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1767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+125.2% (p=0.002)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+163.8%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880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HLA-DPB1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+94.8% (p=0.002)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+210.0%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 presentation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468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+379.5% (p=0.002)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+196.1%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Apoptosis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8797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IRF4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+231.0% (p=0.015)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+1864.3% (p=0.010)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731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+327.3% (p=0.034)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+520.5% (p=0.012)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Signaling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237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+73.1% (p=0.004)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+46.6%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Signaling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2937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+76.1% (p=0.017)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+133.7% (p=0.016)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Signaling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1098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PRDM1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-36.4% (p=0.002)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-58.5%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Differentiation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0377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+93.5% (p=0.002)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95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IL2RA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+533.2%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 activation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744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TYROBP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+237.6% (p=0.009)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+910.8% (p=0.008)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Cytotoxicity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8285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+86.6% (p=0.002)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Exhaustion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614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+100.7% (p=0.009)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Exhaustion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3783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BCL6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+163.1% (p=0.004)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Stemness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1299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TIGIT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+151.5% (p=0.004)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Checkpoint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1314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0910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148-gene panel (C5). Donor-level Mann-Whitney U tests. IT-specific: NL→IT p&lt;0.05, NL→IA p≥0.05.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84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23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BA5A196-9958-2FCC-A1BE-AB1AE16D3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355810"/>
              </p:ext>
            </p:extLst>
          </p:nvPr>
        </p:nvGraphicFramePr>
        <p:xfrm>
          <a:off x="950026" y="1080655"/>
          <a:ext cx="8075222" cy="5297958"/>
        </p:xfrm>
        <a:graphic>
          <a:graphicData uri="http://schemas.openxmlformats.org/drawingml/2006/table">
            <a:tbl>
              <a:tblPr/>
              <a:tblGrid>
                <a:gridCol w="323817">
                  <a:extLst>
                    <a:ext uri="{9D8B030D-6E8A-4147-A177-3AD203B41FA5}">
                      <a16:colId xmlns:a16="http://schemas.microsoft.com/office/drawing/2014/main" val="4116706936"/>
                    </a:ext>
                  </a:extLst>
                </a:gridCol>
                <a:gridCol w="174947">
                  <a:extLst>
                    <a:ext uri="{9D8B030D-6E8A-4147-A177-3AD203B41FA5}">
                      <a16:colId xmlns:a16="http://schemas.microsoft.com/office/drawing/2014/main" val="4263232306"/>
                    </a:ext>
                  </a:extLst>
                </a:gridCol>
                <a:gridCol w="148870">
                  <a:extLst>
                    <a:ext uri="{9D8B030D-6E8A-4147-A177-3AD203B41FA5}">
                      <a16:colId xmlns:a16="http://schemas.microsoft.com/office/drawing/2014/main" val="1462878659"/>
                    </a:ext>
                  </a:extLst>
                </a:gridCol>
                <a:gridCol w="302392">
                  <a:extLst>
                    <a:ext uri="{9D8B030D-6E8A-4147-A177-3AD203B41FA5}">
                      <a16:colId xmlns:a16="http://schemas.microsoft.com/office/drawing/2014/main" val="3464750347"/>
                    </a:ext>
                  </a:extLst>
                </a:gridCol>
                <a:gridCol w="130629">
                  <a:extLst>
                    <a:ext uri="{9D8B030D-6E8A-4147-A177-3AD203B41FA5}">
                      <a16:colId xmlns:a16="http://schemas.microsoft.com/office/drawing/2014/main" val="3353929391"/>
                    </a:ext>
                  </a:extLst>
                </a:gridCol>
                <a:gridCol w="593766">
                  <a:extLst>
                    <a:ext uri="{9D8B030D-6E8A-4147-A177-3AD203B41FA5}">
                      <a16:colId xmlns:a16="http://schemas.microsoft.com/office/drawing/2014/main" val="327510653"/>
                    </a:ext>
                  </a:extLst>
                </a:gridCol>
                <a:gridCol w="841186">
                  <a:extLst>
                    <a:ext uri="{9D8B030D-6E8A-4147-A177-3AD203B41FA5}">
                      <a16:colId xmlns:a16="http://schemas.microsoft.com/office/drawing/2014/main" val="3366806601"/>
                    </a:ext>
                  </a:extLst>
                </a:gridCol>
                <a:gridCol w="585828">
                  <a:extLst>
                    <a:ext uri="{9D8B030D-6E8A-4147-A177-3AD203B41FA5}">
                      <a16:colId xmlns:a16="http://schemas.microsoft.com/office/drawing/2014/main" val="524655389"/>
                    </a:ext>
                  </a:extLst>
                </a:gridCol>
                <a:gridCol w="562855">
                  <a:extLst>
                    <a:ext uri="{9D8B030D-6E8A-4147-A177-3AD203B41FA5}">
                      <a16:colId xmlns:a16="http://schemas.microsoft.com/office/drawing/2014/main" val="706676810"/>
                    </a:ext>
                  </a:extLst>
                </a:gridCol>
                <a:gridCol w="493933">
                  <a:extLst>
                    <a:ext uri="{9D8B030D-6E8A-4147-A177-3AD203B41FA5}">
                      <a16:colId xmlns:a16="http://schemas.microsoft.com/office/drawing/2014/main" val="1043887071"/>
                    </a:ext>
                  </a:extLst>
                </a:gridCol>
                <a:gridCol w="436500">
                  <a:extLst>
                    <a:ext uri="{9D8B030D-6E8A-4147-A177-3AD203B41FA5}">
                      <a16:colId xmlns:a16="http://schemas.microsoft.com/office/drawing/2014/main" val="4251663780"/>
                    </a:ext>
                  </a:extLst>
                </a:gridCol>
                <a:gridCol w="447985">
                  <a:extLst>
                    <a:ext uri="{9D8B030D-6E8A-4147-A177-3AD203B41FA5}">
                      <a16:colId xmlns:a16="http://schemas.microsoft.com/office/drawing/2014/main" val="2920916875"/>
                    </a:ext>
                  </a:extLst>
                </a:gridCol>
                <a:gridCol w="413524">
                  <a:extLst>
                    <a:ext uri="{9D8B030D-6E8A-4147-A177-3AD203B41FA5}">
                      <a16:colId xmlns:a16="http://schemas.microsoft.com/office/drawing/2014/main" val="618367797"/>
                    </a:ext>
                  </a:extLst>
                </a:gridCol>
                <a:gridCol w="482446">
                  <a:extLst>
                    <a:ext uri="{9D8B030D-6E8A-4147-A177-3AD203B41FA5}">
                      <a16:colId xmlns:a16="http://schemas.microsoft.com/office/drawing/2014/main" val="692715258"/>
                    </a:ext>
                  </a:extLst>
                </a:gridCol>
                <a:gridCol w="758128">
                  <a:extLst>
                    <a:ext uri="{9D8B030D-6E8A-4147-A177-3AD203B41FA5}">
                      <a16:colId xmlns:a16="http://schemas.microsoft.com/office/drawing/2014/main" val="2353130296"/>
                    </a:ext>
                  </a:extLst>
                </a:gridCol>
                <a:gridCol w="827049">
                  <a:extLst>
                    <a:ext uri="{9D8B030D-6E8A-4147-A177-3AD203B41FA5}">
                      <a16:colId xmlns:a16="http://schemas.microsoft.com/office/drawing/2014/main" val="4189281187"/>
                    </a:ext>
                  </a:extLst>
                </a:gridCol>
                <a:gridCol w="551367">
                  <a:extLst>
                    <a:ext uri="{9D8B030D-6E8A-4147-A177-3AD203B41FA5}">
                      <a16:colId xmlns:a16="http://schemas.microsoft.com/office/drawing/2014/main" val="3641090273"/>
                    </a:ext>
                  </a:extLst>
                </a:gridCol>
              </a:tblGrid>
              <a:tr h="200318">
                <a:tc gridSpan="1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Table 3. BCR/TCR Donor-Level Repertoire Metrics Across the HBV Disease Spectrum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93534"/>
                  </a:ext>
                </a:extLst>
              </a:tr>
              <a:tr h="2003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264079"/>
                  </a:ext>
                </a:extLst>
              </a:tr>
              <a:tr h="168268">
                <a:tc gridSpan="17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A: BCR repertoire metrics. 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318458"/>
                  </a:ext>
                </a:extLst>
              </a:tr>
              <a:tr h="32748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</a:t>
                      </a:r>
                      <a:endParaRPr lang="en-US"/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BCR_cells_mean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BCR_cells_sd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Clonality_mean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Clonality_sd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Singleton_pct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IgM_pct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IgG_pct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IgA_pct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IgD_pct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ClassSwitched_pct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TopCloneSize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IGHV3_23_pct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426818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0.5051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0.1372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298851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0.5334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0.1179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738514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0.4381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0.0982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959972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0.5676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267126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613301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0.4955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0.1857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626173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884228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358968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0.3317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486089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09163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099028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894173"/>
                  </a:ext>
                </a:extLst>
              </a:tr>
              <a:tr h="168268">
                <a:tc gridSpan="1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B: TCR repertoire metrics.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258825"/>
                  </a:ext>
                </a:extLst>
              </a:tr>
              <a:tr h="32748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TCR_cells_mean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TCR_cells_sd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Clonality_mean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Clonality_sd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Singleton_pct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TopCloneSize</a:t>
                      </a: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13787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0.5501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337918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0.4874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0.1476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769939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499203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0.4228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414714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592661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0.1494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388906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0.3515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0.0943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363356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3168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0.3023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0.0599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440094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0.3907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641112"/>
                  </a:ext>
                </a:extLst>
              </a:tr>
              <a:tr h="16720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78" marR="6578" marT="657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87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45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EF09BE-A533-4BD4-2B4C-64A30C979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902660"/>
              </p:ext>
            </p:extLst>
          </p:nvPr>
        </p:nvGraphicFramePr>
        <p:xfrm>
          <a:off x="324939" y="210580"/>
          <a:ext cx="11645388" cy="6520855"/>
        </p:xfrm>
        <a:graphic>
          <a:graphicData uri="http://schemas.openxmlformats.org/drawingml/2006/table">
            <a:tbl>
              <a:tblPr/>
              <a:tblGrid>
                <a:gridCol w="1629244">
                  <a:extLst>
                    <a:ext uri="{9D8B030D-6E8A-4147-A177-3AD203B41FA5}">
                      <a16:colId xmlns:a16="http://schemas.microsoft.com/office/drawing/2014/main" val="3608840664"/>
                    </a:ext>
                  </a:extLst>
                </a:gridCol>
                <a:gridCol w="1540376">
                  <a:extLst>
                    <a:ext uri="{9D8B030D-6E8A-4147-A177-3AD203B41FA5}">
                      <a16:colId xmlns:a16="http://schemas.microsoft.com/office/drawing/2014/main" val="1928994564"/>
                    </a:ext>
                  </a:extLst>
                </a:gridCol>
                <a:gridCol w="877569">
                  <a:extLst>
                    <a:ext uri="{9D8B030D-6E8A-4147-A177-3AD203B41FA5}">
                      <a16:colId xmlns:a16="http://schemas.microsoft.com/office/drawing/2014/main" val="2430724220"/>
                    </a:ext>
                  </a:extLst>
                </a:gridCol>
                <a:gridCol w="5643107">
                  <a:extLst>
                    <a:ext uri="{9D8B030D-6E8A-4147-A177-3AD203B41FA5}">
                      <a16:colId xmlns:a16="http://schemas.microsoft.com/office/drawing/2014/main" val="231841599"/>
                    </a:ext>
                  </a:extLst>
                </a:gridCol>
                <a:gridCol w="785000">
                  <a:extLst>
                    <a:ext uri="{9D8B030D-6E8A-4147-A177-3AD203B41FA5}">
                      <a16:colId xmlns:a16="http://schemas.microsoft.com/office/drawing/2014/main" val="1788878946"/>
                    </a:ext>
                  </a:extLst>
                </a:gridCol>
                <a:gridCol w="1170092">
                  <a:extLst>
                    <a:ext uri="{9D8B030D-6E8A-4147-A177-3AD203B41FA5}">
                      <a16:colId xmlns:a16="http://schemas.microsoft.com/office/drawing/2014/main" val="3148645061"/>
                    </a:ext>
                  </a:extLst>
                </a:gridCol>
              </a:tblGrid>
              <a:tr h="183095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S1a. 29 Immunological Pathway Gene Sets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4357"/>
                  </a:ext>
                </a:extLst>
              </a:tr>
              <a:tr h="331402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 sets used for AUCell pathway scoring. 29 pathways containing 179 unique genes (178 present in h5ad; RPS6KB1 absent). Original 26 pathways + 3 added (antigen_presentation, type1_ifn, tgfb_signaling).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230707"/>
                  </a:ext>
                </a:extLst>
              </a:tr>
              <a:tr h="3204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Pathway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Genes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in h5ad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Missing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03892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angiogenesis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Tissue/Disease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ANGPT1, ANGPT2, FLT1, HIF1A, KDR, NOS3, TEK, VEGFA, VEGFB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89556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antigen_presentation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Antigen Processing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B2M, CD74, HLA-DPA1, HLA-DPB1, HLA-DQB1, HLA-DRA, HLA-DRB1, TAP1, TAP2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17736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apoptosis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Fate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BAK1, BAX, BCL2, CASP3, CASP8, FAS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58570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cancer_associated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Tissue/Disease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AFP, CTNNB1, GPC3, MMP9, MYC, SPP1, TERT, TP53, VEGFA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02217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cell_cycle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Fate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CCNB1, CCND1, CCNE1, CDK1, CDK2, CDK4, CDK6, CDKN1A, CDKN2A, RB1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56849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checkpoint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 Regulation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CTLA4, HAVCR2, LAG3, PDCD1, TIGIT, TOX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096613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cytotoxicity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 Effector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FASLG, GNLY, GZMA, GZMB, GZMK, NKG7, PRF1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5728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Tissue/Disease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DNMT1, DNMT3A, EZH2, HDAC1, KDM6A, KMT2A, SETDB1, TET2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520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exhaustion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 Regulation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ENTPD1, HAVCR2, LAG3, PDCD1, TIGIT, TOX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6777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fibrosis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Tissue/Disease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ACTA2, COL1A1, COL3A1, FN1, LOX, LOXL2, MMP2, PDGFRB, TGFB1, TIMP1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1608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glycolysis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Metabolism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ENO1, GAPDH, HK1, HK2, LDHA, PFKFB3, PKM, SLC2A1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358816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il15_mtor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Signaling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AKT1, IL2RB, IL2RG, JAK1, JAK3, MTOR, PIK3CA, RPTOR, STAT5A, STAT5B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224152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immune_evasion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 Regulation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CD274, HAVCR2, IDO1, IL1RN, LGALS9, PDCD1LG2, TNFAIP3, VSIR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84612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inflammasome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 Effector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CASP1, GSDMD, IL18, IL1B, NLRP3, PYCARD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72155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memory_t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Cell Biology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CCR7, CD44, EOMES, GZMK, IL7R, SELL, TBX21, TCF7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57032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metabolic_recovery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Metabolism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NRF1, PPARA, PPARGC1A, PRKAA1, SIRT1, TFAM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23672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mito_dysfunction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Metabolism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MT-ATP6, MT-CO1, MT-CO2, MT-CO3, MT-CYB, MT-ND1, MT-ND4, MT-ND5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4372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naive_t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Cell Biology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CCR7, IL7R, LEF1, SELL, TCF7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513496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nk_function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Innate Immunity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KLRC2, KLRD1, KLRK1, NCAM1, NCR1, NCR3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6830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nk_il15_dual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Innate Immunity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AKT1, IL2RB, IL2RG, JAK1, JAK3, MTOR, STAT5A, STAT5B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74002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oxphos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Metabolism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ATP5F1A, ATP5F1B, COX5A, NDUFA1, NDUFB1, SDHB, UQCRB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01005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proliferation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Fate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CCNB1, CDK1, MKI67, PCNA, TOP2A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8796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senescence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Fate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CDKN1A, CDKN2A, GLB1, LMNB1, RB1, SERPINE1, TP53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67166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stemness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Cell Biology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BACH2, CCR7, IL7R, LEF1, MYB, SELL, TCF7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214801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tf_programs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Cell Biology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BATF, BCL6, EOMES, GATA3, IRF4, PRDM1, RORC, RUNX3, TBX21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380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tgfb_signaling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Signaling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SMAD2, SMAD3, SMAD4, SMAD7, TGFB1, TGFBR1, TGFBR2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26677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tissue_resident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Cell Biology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CD69, CXCR6, ITGA1, ITGAE, RUNX3, ZNF683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207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treg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Immune Regulation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CTLA4, FOXP3, IKZF2, IL2RA, TNFRSF18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367769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type1_ifn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Innate Immunity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IFI44L, IFNAR1, IRF3, IRF7, ISG15, MX1, OAS1, STAT1, STAT2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74568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606545"/>
                  </a:ext>
                </a:extLst>
              </a:tr>
              <a:tr h="183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pathways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 unique genes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118" marR="6118" marT="61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07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83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4075-65F8-DDE5-DE30-16103765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19D72-991C-68BB-720C-BFAFC06866F5}"/>
              </a:ext>
            </a:extLst>
          </p:cNvPr>
          <p:cNvSpPr txBox="1"/>
          <p:nvPr/>
        </p:nvSpPr>
        <p:spPr>
          <a:xfrm>
            <a:off x="586409" y="1658612"/>
            <a:ext cx="1088334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S1b. Complete 29-Pathway × 6-Lineage × 2-Tissue </a:t>
            </a:r>
            <a:r>
              <a:rPr lang="en-US" b="1" dirty="0" err="1"/>
              <a:t>AUCell</a:t>
            </a:r>
            <a:r>
              <a:rPr lang="en-US" b="1" dirty="0"/>
              <a:t> Scoring Results</a:t>
            </a:r>
          </a:p>
          <a:p>
            <a:r>
              <a:rPr lang="en-US" dirty="0"/>
              <a:t>	</a:t>
            </a:r>
            <a:r>
              <a:rPr lang="en-US" b="1" dirty="0"/>
              <a:t> </a:t>
            </a:r>
          </a:p>
          <a:p>
            <a:r>
              <a:rPr lang="en-US" b="1" dirty="0"/>
              <a:t>&lt;see Excel Sheet for the data&gt;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</a:p>
          <a:p>
            <a:r>
              <a:rPr lang="en-US" sz="1400" dirty="0" err="1"/>
              <a:t>AUCell</a:t>
            </a:r>
            <a:r>
              <a:rPr lang="en-US" sz="1400" dirty="0"/>
              <a:t> pathway scoring with donor-level Mann-Whitney U tests. All 7 comparisons. </a:t>
            </a:r>
            <a:r>
              <a:rPr lang="en-US" sz="1400" dirty="0" err="1"/>
              <a:t>AUCell</a:t>
            </a:r>
            <a:r>
              <a:rPr lang="en-US" sz="1400" dirty="0"/>
              <a:t> scoring of 29 immunological gene sets across 6 lineages in liver and blood. Donor-level Mann-Whitney U tests (two-sided). ★★p&lt;0.01, ★p&lt;0.05, †p&lt;0.10, NS: not significant. Consistency: donor-pair consistency count.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dirty="0"/>
              <a:t>	</a:t>
            </a:r>
            <a:r>
              <a:rPr lang="en-US" dirty="0"/>
              <a:t>												</a:t>
            </a:r>
          </a:p>
        </p:txBody>
      </p:sp>
    </p:spTree>
    <p:extLst>
      <p:ext uri="{BB962C8B-B14F-4D97-AF65-F5344CB8AC3E}">
        <p14:creationId xmlns:p14="http://schemas.microsoft.com/office/powerpoint/2010/main" val="279397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753C-8DE5-0E18-B201-1FAE8E72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6C0658-FB8F-7C4B-CB8B-1126DFFCB3C1}"/>
              </a:ext>
            </a:extLst>
          </p:cNvPr>
          <p:cNvSpPr txBox="1"/>
          <p:nvPr/>
        </p:nvSpPr>
        <p:spPr>
          <a:xfrm>
            <a:off x="1272209" y="2353054"/>
            <a:ext cx="979004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S2a. Individual Gene Candidates with Source Attribution. </a:t>
            </a:r>
          </a:p>
          <a:p>
            <a:endParaRPr lang="en-US" b="1" dirty="0"/>
          </a:p>
          <a:p>
            <a:r>
              <a:rPr lang="en-US" b="1" dirty="0"/>
              <a:t>&lt;see Excel Sheet for the data&gt; </a:t>
            </a:r>
          </a:p>
          <a:p>
            <a:endParaRPr lang="en-US" b="1" dirty="0"/>
          </a:p>
          <a:p>
            <a:r>
              <a:rPr lang="en-US" b="1" dirty="0"/>
              <a:t>&lt;footnote&gt;</a:t>
            </a:r>
            <a:r>
              <a:rPr lang="en-US" dirty="0"/>
              <a:t>						</a:t>
            </a:r>
          </a:p>
          <a:p>
            <a:r>
              <a:rPr lang="en-US" sz="1400" dirty="0"/>
              <a:t>C3: 196 genes; C5: 148 genes; C9B: 19 genes. C3∩C5 shared: 81 genes. C3∪C5: 263 genes..; C3: 196-gene broad screen; C5: 148-gene refined panel; C9B: 19 critical genes re-verified with stratified FDR. C3∩C5 shared: 81 genes. C3∪C5 gene universe: 263 genes. RPS6KB1 absent from h5ad file (178 of 179 pathway genes present).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dirty="0"/>
              <a:t>					</a:t>
            </a:r>
            <a:r>
              <a:rPr lang="en-US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68126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77ED-ED8A-894C-0E28-AF154D30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36989-13AE-4FE4-4738-FFFE4277BA1F}"/>
              </a:ext>
            </a:extLst>
          </p:cNvPr>
          <p:cNvSpPr txBox="1"/>
          <p:nvPr/>
        </p:nvSpPr>
        <p:spPr>
          <a:xfrm>
            <a:off x="1013791" y="1249810"/>
            <a:ext cx="1001864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S2b. IT-Specific Gene-Lineage Combinations </a:t>
            </a:r>
          </a:p>
          <a:p>
            <a:r>
              <a:rPr lang="en-US" b="1" dirty="0"/>
              <a:t>&lt;see Excel Sheet&gt;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  <a:r>
              <a:rPr lang="en-US" dirty="0"/>
              <a:t>						</a:t>
            </a:r>
          </a:p>
          <a:p>
            <a:r>
              <a:rPr lang="en-US" sz="1400" dirty="0"/>
              <a:t>IT-specific: NL→IT p&lt;0.05 AND NL→IA p≥0.05. Liver=52 + Blood=62 = 114 total. C5 148-gene panel. IT-specific: NL→IT significant (p&lt;0.05) AND NL→IA non-significant (p≥0.05). C5 148-gene panel, 6 lineages (</a:t>
            </a:r>
            <a:r>
              <a:rPr lang="en-US" sz="1400" dirty="0" err="1"/>
              <a:t>gdT</a:t>
            </a:r>
            <a:r>
              <a:rPr lang="en-US" sz="1400" dirty="0"/>
              <a:t> excluded), donor-level Mann-Whitney U tests. Liver n: NL=6, IT=6, IA=5. Blood n: NL=5, IT=5, IA=4. Liver rows colored orange; Blood rows colored blue.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dirty="0"/>
              <a:t>							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7060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647184-6684-70DD-D8E6-D6A38F8F821D}"/>
              </a:ext>
            </a:extLst>
          </p:cNvPr>
          <p:cNvGraphicFramePr>
            <a:graphicFrameLocks noGrp="1"/>
          </p:cNvGraphicFramePr>
          <p:nvPr/>
        </p:nvGraphicFramePr>
        <p:xfrm>
          <a:off x="2146300" y="2418239"/>
          <a:ext cx="7899400" cy="3166110"/>
        </p:xfrm>
        <a:graphic>
          <a:graphicData uri="http://schemas.openxmlformats.org/drawingml/2006/table">
            <a:tbl>
              <a:tblPr/>
              <a:tblGrid>
                <a:gridCol w="1076758">
                  <a:extLst>
                    <a:ext uri="{9D8B030D-6E8A-4147-A177-3AD203B41FA5}">
                      <a16:colId xmlns:a16="http://schemas.microsoft.com/office/drawing/2014/main" val="1067972963"/>
                    </a:ext>
                  </a:extLst>
                </a:gridCol>
                <a:gridCol w="952883">
                  <a:extLst>
                    <a:ext uri="{9D8B030D-6E8A-4147-A177-3AD203B41FA5}">
                      <a16:colId xmlns:a16="http://schemas.microsoft.com/office/drawing/2014/main" val="1214089946"/>
                    </a:ext>
                  </a:extLst>
                </a:gridCol>
                <a:gridCol w="762306">
                  <a:extLst>
                    <a:ext uri="{9D8B030D-6E8A-4147-A177-3AD203B41FA5}">
                      <a16:colId xmlns:a16="http://schemas.microsoft.com/office/drawing/2014/main" val="2030963814"/>
                    </a:ext>
                  </a:extLst>
                </a:gridCol>
                <a:gridCol w="1800949">
                  <a:extLst>
                    <a:ext uri="{9D8B030D-6E8A-4147-A177-3AD203B41FA5}">
                      <a16:colId xmlns:a16="http://schemas.microsoft.com/office/drawing/2014/main" val="2619484181"/>
                    </a:ext>
                  </a:extLst>
                </a:gridCol>
                <a:gridCol w="1867651">
                  <a:extLst>
                    <a:ext uri="{9D8B030D-6E8A-4147-A177-3AD203B41FA5}">
                      <a16:colId xmlns:a16="http://schemas.microsoft.com/office/drawing/2014/main" val="2949076154"/>
                    </a:ext>
                  </a:extLst>
                </a:gridCol>
                <a:gridCol w="1438853">
                  <a:extLst>
                    <a:ext uri="{9D8B030D-6E8A-4147-A177-3AD203B41FA5}">
                      <a16:colId xmlns:a16="http://schemas.microsoft.com/office/drawing/2014/main" val="3110230518"/>
                    </a:ext>
                  </a:extLst>
                </a:gridCol>
              </a:tblGrid>
              <a:tr h="200025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S3. Comprehensive Comparison: NL→IT vs IT→IA (Tissue-Separated, Donor-Level)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6316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NL→IT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IT→IA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155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TGFB1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↑23% p=0.309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★↑44% p=0.016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9991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SERPINE1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↑88% p=0.204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★↑341% p=0.016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260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↑111% p=0.290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★↑770% p=0.032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1942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★↑1857% p=0.004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★↓96% p=0.007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TRANSITION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6890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↑248% p=0.295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★↓98% p=0.012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0812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SERPINE1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★↑1240% p=0.045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↑61% p=0.623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IT-persistent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776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SERPINE1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↓25% p=0.684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↓45% p=0.370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9293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TGFB1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↑4% p=0.818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↑10% p=0.537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707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↓90% p=0.747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↑84% p=0.286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787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↓97% p=0.480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↑193% p=0.268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08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↑56% p=0.841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↑161% p=0.111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7914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↑8% p=0.818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↑7% p=1.000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022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†↑29% p=0.065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★↓23% p=0.030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942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↓37% p=0.421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↑66% p=0.905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456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495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AA5D58-6135-C874-01BB-F9F4912B8BA9}"/>
              </a:ext>
            </a:extLst>
          </p:cNvPr>
          <p:cNvGraphicFramePr>
            <a:graphicFrameLocks noGrp="1"/>
          </p:cNvGraphicFramePr>
          <p:nvPr/>
        </p:nvGraphicFramePr>
        <p:xfrm>
          <a:off x="1136650" y="2305844"/>
          <a:ext cx="9918699" cy="3390900"/>
        </p:xfrm>
        <a:graphic>
          <a:graphicData uri="http://schemas.openxmlformats.org/drawingml/2006/table">
            <a:tbl>
              <a:tblPr/>
              <a:tblGrid>
                <a:gridCol w="600459">
                  <a:extLst>
                    <a:ext uri="{9D8B030D-6E8A-4147-A177-3AD203B41FA5}">
                      <a16:colId xmlns:a16="http://schemas.microsoft.com/office/drawing/2014/main" val="546488814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1521529424"/>
                    </a:ext>
                  </a:extLst>
                </a:gridCol>
                <a:gridCol w="819675">
                  <a:extLst>
                    <a:ext uri="{9D8B030D-6E8A-4147-A177-3AD203B41FA5}">
                      <a16:colId xmlns:a16="http://schemas.microsoft.com/office/drawing/2014/main" val="1147637758"/>
                    </a:ext>
                  </a:extLst>
                </a:gridCol>
                <a:gridCol w="1429665">
                  <a:extLst>
                    <a:ext uri="{9D8B030D-6E8A-4147-A177-3AD203B41FA5}">
                      <a16:colId xmlns:a16="http://schemas.microsoft.com/office/drawing/2014/main" val="3351251690"/>
                    </a:ext>
                  </a:extLst>
                </a:gridCol>
                <a:gridCol w="1372479">
                  <a:extLst>
                    <a:ext uri="{9D8B030D-6E8A-4147-A177-3AD203B41FA5}">
                      <a16:colId xmlns:a16="http://schemas.microsoft.com/office/drawing/2014/main" val="3091190107"/>
                    </a:ext>
                  </a:extLst>
                </a:gridCol>
                <a:gridCol w="1499560">
                  <a:extLst>
                    <a:ext uri="{9D8B030D-6E8A-4147-A177-3AD203B41FA5}">
                      <a16:colId xmlns:a16="http://schemas.microsoft.com/office/drawing/2014/main" val="2516495258"/>
                    </a:ext>
                  </a:extLst>
                </a:gridCol>
                <a:gridCol w="1334354">
                  <a:extLst>
                    <a:ext uri="{9D8B030D-6E8A-4147-A177-3AD203B41FA5}">
                      <a16:colId xmlns:a16="http://schemas.microsoft.com/office/drawing/2014/main" val="2197753487"/>
                    </a:ext>
                  </a:extLst>
                </a:gridCol>
                <a:gridCol w="1131024">
                  <a:extLst>
                    <a:ext uri="{9D8B030D-6E8A-4147-A177-3AD203B41FA5}">
                      <a16:colId xmlns:a16="http://schemas.microsoft.com/office/drawing/2014/main" val="3656198439"/>
                    </a:ext>
                  </a:extLst>
                </a:gridCol>
                <a:gridCol w="978526">
                  <a:extLst>
                    <a:ext uri="{9D8B030D-6E8A-4147-A177-3AD203B41FA5}">
                      <a16:colId xmlns:a16="http://schemas.microsoft.com/office/drawing/2014/main" val="3843171042"/>
                    </a:ext>
                  </a:extLst>
                </a:gridCol>
              </a:tblGrid>
              <a:tr h="266700"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S4A: IA vs AR Discriminators with Disease Trajectory Context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54069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NL-&gt;IT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NL-&gt;IA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NL-&gt;AR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vs 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vs AR Direction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861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(t)+161.5% (p=0.082)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*+237.0% (p=0.009)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+25.6% (p=0.548)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*-62.7%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IT-inherited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6410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FOXP3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(t)+153.7% (p=0.093)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*+255.0% (p=0.004)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+50.4% (p=0.548)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*-57.6%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IT-inherited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0907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TYROBP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*+910.8% (p=0.008)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*+774.6% (p=0.016)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+170.8% (p=0.393)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(t)-69.0%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IT-inherited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0399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FOXP3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+358.8% (p=0.265)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*+1053.4% (p=0.018)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+295.3% (p=0.127)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(t)-65.7%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464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TIGIT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from_zero (p=0.180)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*from_zero (p=0.011)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from_zero (p=0.302)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*-98.7% (p=0.050)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5392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+88.1% (p=0.937)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+1.8% (p=0.931)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*+128.7% (p=0.024)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(t)+124.6% (p=0.071)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7432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+9.6% (p=0.691)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-37.6% (p=0.556)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*+155.8%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(t)+310.0%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301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-100.0% (p=0.223)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+222.0% (p=0.908)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*+11297.2% (p=0.022)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*+3439.1% (p=0.026)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0484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(t)+23.3% (p=0.093)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-0.1% (p=0.792)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*+42.7% (p=0.024)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(t)+42.7% (p=0.071)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8233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(t)+28.7% (p=0.065)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-0.5% (p=1.000)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*+35.0% (p=0.024)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*+35.7%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5751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FCER1G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*+514.8% (p=0.021)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(t)+437.3% (p=0.065)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+92.9% (p=0.230)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(t)-64.1%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IT-specific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658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FCER1G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+149.3% (p=0.486)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(t)+223.9% (p=0.076)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-100.0% (p=0.377)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*-100.0% (p=0.033)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6630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+4.6% (p=0.699)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-40.7% (p=0.126)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+37.5% (p=0.262)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*+131.9%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9597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-38.4% (p=0.833)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+62.9% (p=0.902)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-96.8% (p=0.341)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*-98.1% (p=0.050)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48008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TYROBP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+7.1% (p=1.000)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-59.8% (p=0.429)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(t)-100.0% (p=0.059)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*-100.0% (p=0.033)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635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34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E256-7682-E570-8636-7A5D4875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B11E11-5D85-0214-2F7A-297C3C31D1C4}"/>
              </a:ext>
            </a:extLst>
          </p:cNvPr>
          <p:cNvSpPr txBox="1"/>
          <p:nvPr/>
        </p:nvSpPr>
        <p:spPr>
          <a:xfrm>
            <a:off x="1311966" y="1769238"/>
            <a:ext cx="87886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S4B. Comprehensive Disease Trajectory Comparison for All Tested Genes. </a:t>
            </a:r>
          </a:p>
          <a:p>
            <a:endParaRPr lang="en-US" b="1" dirty="0"/>
          </a:p>
          <a:p>
            <a:r>
              <a:rPr lang="en-US" b="1" dirty="0"/>
              <a:t>&lt;see Excel Sheet for the data&gt;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  <a:endParaRPr lang="en-US" dirty="0"/>
          </a:p>
          <a:p>
            <a:r>
              <a:rPr lang="en-US" dirty="0"/>
              <a:t>Complete donor-level Mann-Whitney U test results for 24 transition-relevant genes across all lineage-tissue combinations with at least one significant comparison (p&lt;0.05). Four comparisons shown: NL→IT, NL→IA, NL→AR, and IA vs AR. Each cell reports the percent change and p-value. 98 gene-lineage-tissue combinations included. Genes tested: GNLY, FOXP3, LAYN, TIGIT, DNMT1, CTLA4, TOX, GZMB, PRF1, GZMK, DNMT3A, TET2, TGFB1, LGALS9, SOCS1, SOCS3, PRDM1, BCL6, JAK1, MTOR, AIM2, MEFV, TYROBP, FCER1G. Statistical test: Mann-Whitney U, two-sided, donor-level means. *p&lt;0.05, (t) p&lt;0.10.</a:t>
            </a:r>
          </a:p>
        </p:txBody>
      </p:sp>
    </p:spTree>
    <p:extLst>
      <p:ext uri="{BB962C8B-B14F-4D97-AF65-F5344CB8AC3E}">
        <p14:creationId xmlns:p14="http://schemas.microsoft.com/office/powerpoint/2010/main" val="422098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7E69-FF5E-38CC-D7B3-4DFC7EAC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EFE8C1-456C-B2F1-02DF-71D3708F38D6}"/>
              </a:ext>
            </a:extLst>
          </p:cNvPr>
          <p:cNvSpPr txBox="1"/>
          <p:nvPr/>
        </p:nvSpPr>
        <p:spPr>
          <a:xfrm>
            <a:off x="558141" y="197346"/>
            <a:ext cx="114596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Supplementary Table S5. Disease Trajectory Classification of CR-Phase Transcriptomic Alterations (Tissue-Separated). </a:t>
            </a:r>
          </a:p>
          <a:p>
            <a:pPr>
              <a:buNone/>
            </a:pPr>
            <a:r>
              <a:rPr lang="en-US" b="1" dirty="0"/>
              <a:t>&lt;see Excel Sheet&gt;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</a:p>
          <a:p>
            <a:r>
              <a:rPr lang="en-US" dirty="0"/>
              <a:t>Donor-level Mann-Whitney U tests for 30 genes across 6 lineages in both liver and blood. Three comparisons shown: NL→IT, NL→IA, and NL→CR, enabling trajectory classification. Patterns defined as: </a:t>
            </a:r>
            <a:r>
              <a:rPr lang="en-US" b="1" dirty="0"/>
              <a:t>IT-persistent</a:t>
            </a:r>
            <a:r>
              <a:rPr lang="en-US" dirty="0"/>
              <a:t> (NL→IT significant AND NL→CR significant, same direction — IT-originated changes persisting beyond viral clearance), </a:t>
            </a:r>
            <a:r>
              <a:rPr lang="en-US" b="1" dirty="0"/>
              <a:t>IA-persistent</a:t>
            </a:r>
            <a:r>
              <a:rPr lang="en-US" dirty="0"/>
              <a:t> (NL→IT NS, NL→IA significant, NL→CR significant), </a:t>
            </a:r>
            <a:r>
              <a:rPr lang="en-US" b="1" dirty="0"/>
              <a:t>CR-unique</a:t>
            </a:r>
            <a:r>
              <a:rPr lang="en-US" dirty="0"/>
              <a:t> (NL→IT NS, NL→IA NS, NL→CR significant — novel CR-specific changes), </a:t>
            </a:r>
            <a:r>
              <a:rPr lang="en-US" b="1" dirty="0"/>
              <a:t>Resolved at CR</a:t>
            </a:r>
            <a:r>
              <a:rPr lang="en-US" dirty="0"/>
              <a:t> (NL→IT significant, NL→CR NS — IT changes no longer present after resolution). 116 gene-lineage-tissue combinations with at least one significant comparison. Mann-Whitney U, two-sided, donor-level means. *p&lt;0.05, (t) p&lt;0.10.</a:t>
            </a:r>
          </a:p>
        </p:txBody>
      </p:sp>
    </p:spTree>
    <p:extLst>
      <p:ext uri="{BB962C8B-B14F-4D97-AF65-F5344CB8AC3E}">
        <p14:creationId xmlns:p14="http://schemas.microsoft.com/office/powerpoint/2010/main" val="1823885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A51FA7-2351-4CE7-0B6B-525063509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967158"/>
              </p:ext>
            </p:extLst>
          </p:nvPr>
        </p:nvGraphicFramePr>
        <p:xfrm>
          <a:off x="1425039" y="356779"/>
          <a:ext cx="7778338" cy="5859434"/>
        </p:xfrm>
        <a:graphic>
          <a:graphicData uri="http://schemas.openxmlformats.org/drawingml/2006/table">
            <a:tbl>
              <a:tblPr/>
              <a:tblGrid>
                <a:gridCol w="371780">
                  <a:extLst>
                    <a:ext uri="{9D8B030D-6E8A-4147-A177-3AD203B41FA5}">
                      <a16:colId xmlns:a16="http://schemas.microsoft.com/office/drawing/2014/main" val="3324069634"/>
                    </a:ext>
                  </a:extLst>
                </a:gridCol>
                <a:gridCol w="1847284">
                  <a:extLst>
                    <a:ext uri="{9D8B030D-6E8A-4147-A177-3AD203B41FA5}">
                      <a16:colId xmlns:a16="http://schemas.microsoft.com/office/drawing/2014/main" val="3757219253"/>
                    </a:ext>
                  </a:extLst>
                </a:gridCol>
                <a:gridCol w="708706">
                  <a:extLst>
                    <a:ext uri="{9D8B030D-6E8A-4147-A177-3AD203B41FA5}">
                      <a16:colId xmlns:a16="http://schemas.microsoft.com/office/drawing/2014/main" val="4072739896"/>
                    </a:ext>
                  </a:extLst>
                </a:gridCol>
                <a:gridCol w="615760">
                  <a:extLst>
                    <a:ext uri="{9D8B030D-6E8A-4147-A177-3AD203B41FA5}">
                      <a16:colId xmlns:a16="http://schemas.microsoft.com/office/drawing/2014/main" val="294725712"/>
                    </a:ext>
                  </a:extLst>
                </a:gridCol>
                <a:gridCol w="604144">
                  <a:extLst>
                    <a:ext uri="{9D8B030D-6E8A-4147-A177-3AD203B41FA5}">
                      <a16:colId xmlns:a16="http://schemas.microsoft.com/office/drawing/2014/main" val="522616648"/>
                    </a:ext>
                  </a:extLst>
                </a:gridCol>
                <a:gridCol w="731942">
                  <a:extLst>
                    <a:ext uri="{9D8B030D-6E8A-4147-A177-3AD203B41FA5}">
                      <a16:colId xmlns:a16="http://schemas.microsoft.com/office/drawing/2014/main" val="2609478902"/>
                    </a:ext>
                  </a:extLst>
                </a:gridCol>
                <a:gridCol w="615760">
                  <a:extLst>
                    <a:ext uri="{9D8B030D-6E8A-4147-A177-3AD203B41FA5}">
                      <a16:colId xmlns:a16="http://schemas.microsoft.com/office/drawing/2014/main" val="1702415793"/>
                    </a:ext>
                  </a:extLst>
                </a:gridCol>
                <a:gridCol w="836506">
                  <a:extLst>
                    <a:ext uri="{9D8B030D-6E8A-4147-A177-3AD203B41FA5}">
                      <a16:colId xmlns:a16="http://schemas.microsoft.com/office/drawing/2014/main" val="1570052852"/>
                    </a:ext>
                  </a:extLst>
                </a:gridCol>
                <a:gridCol w="479247">
                  <a:extLst>
                    <a:ext uri="{9D8B030D-6E8A-4147-A177-3AD203B41FA5}">
                      <a16:colId xmlns:a16="http://schemas.microsoft.com/office/drawing/2014/main" val="2305394647"/>
                    </a:ext>
                  </a:extLst>
                </a:gridCol>
                <a:gridCol w="967209">
                  <a:extLst>
                    <a:ext uri="{9D8B030D-6E8A-4147-A177-3AD203B41FA5}">
                      <a16:colId xmlns:a16="http://schemas.microsoft.com/office/drawing/2014/main" val="2876520402"/>
                    </a:ext>
                  </a:extLst>
                </a:gridCol>
              </a:tblGrid>
              <a:tr h="121376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S6. Six-Layer Effector Suppression Architecture in IT Phase</a:t>
                      </a: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072336"/>
                  </a:ext>
                </a:extLst>
              </a:tr>
              <a:tr h="127445"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 genes donor-level tested (Mann-Whitney U). C10 per-cell validation from existing Oaxaca-Blinder decomposition.</a:t>
                      </a: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69" marR="6069" marT="606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674166"/>
                  </a:ext>
                </a:extLst>
              </a:tr>
              <a:tr h="212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Layer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Mechanism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Change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Consistency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Tier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C10 Per-cell%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684582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TGFB1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+155.6%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670089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LGALS9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+93.7%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789894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LILRB1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+101.8%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0.0317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89933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SIGLEC10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+137.7%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0.0317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52248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AIM2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+1431.2%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625206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MEFV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+201.1%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494168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 paracrine suppression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PYCARD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+24.7%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214491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 silencing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+163.8%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81771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 silencing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DNMT3A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+348.3%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936735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 silencing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TET2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+150.1%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866892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 silencing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+125.2%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57335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 checkpoint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MTOR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+520.5%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318468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 checkpoint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MTOR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+327.3%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978191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 checkpoint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LDHA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-36.3%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336769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 checkpoint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TFAM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+171.2%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56953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 checkpoint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TFAM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+90.6%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261977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JAK-STAT paradox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+128.3%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488578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JAK-STAT paradox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+200.4%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989980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JAK-STAT paradox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SOCS1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-67.0%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992582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JAK-STAT paradox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SOCS1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-64.0%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256611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JAK-STAT paradox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SOCS3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-76.9%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969948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+100.7%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0.0087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798444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+86.6%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230337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TOX2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+242.1%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0.0087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35319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+430.5%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0.0087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415620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CTLA4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+171.1%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0.0043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031391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TIGIT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+123.8%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219264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T cell exhaustion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TIGIT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+151.5%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0.0043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059740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Terminal differentiation block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PRDM1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-36.4%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09600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Terminal differentiation block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PRDM1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-58.5%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281563"/>
                  </a:ext>
                </a:extLst>
              </a:tr>
              <a:tr h="1213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Terminal differentiation block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PRDM1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-57.9%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24694"/>
                  </a:ext>
                </a:extLst>
              </a:tr>
              <a:tr h="1274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Terminal differentiation block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RORC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-49.4%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32/36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6069" marR="6069" marT="6069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074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182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636790-FC60-1C91-0825-CE92FD1C1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94843"/>
              </p:ext>
            </p:extLst>
          </p:nvPr>
        </p:nvGraphicFramePr>
        <p:xfrm>
          <a:off x="2574719" y="2203852"/>
          <a:ext cx="6591300" cy="3286125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164786575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5630045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1597935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93594535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08696871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27499401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42110247"/>
                    </a:ext>
                  </a:extLst>
                </a:gridCol>
              </a:tblGrid>
              <a:tr h="238125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S7. Tissue-Opposite Pathway Changes at NL→IT (Direction Discordant Between Liver and Blood)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9546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5415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Pathway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 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 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 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8115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antigen_presentation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★+30.6%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9797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cell_cycle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★+29.9%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†-31.1%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0054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checkpoint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★+42.2%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★-51.5%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000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exhaustion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★+40.3%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†-49.5%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0289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senescence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†+21.2%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★-29.4%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3616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checkpoint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★-31.7%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72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exhaustion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★-31.2%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463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senescence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★-33.6%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Liver↑/Blood↓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4783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★+36.7%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Liver↓/Blood↑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2428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801641"/>
                  </a:ext>
                </a:extLst>
              </a:tr>
              <a:tr h="1905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29-pathway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AUCell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scoring. Pathways significant in at least one tissue with opposite direction in the other. ★p&lt;0.05, †p&lt;0.10.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304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755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1E3670-5632-6126-307E-7376AAFCC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790768"/>
              </p:ext>
            </p:extLst>
          </p:nvPr>
        </p:nvGraphicFramePr>
        <p:xfrm>
          <a:off x="2851149" y="2020094"/>
          <a:ext cx="6489701" cy="3962400"/>
        </p:xfrm>
        <a:graphic>
          <a:graphicData uri="http://schemas.openxmlformats.org/drawingml/2006/table">
            <a:tbl>
              <a:tblPr/>
              <a:tblGrid>
                <a:gridCol w="621996">
                  <a:extLst>
                    <a:ext uri="{9D8B030D-6E8A-4147-A177-3AD203B41FA5}">
                      <a16:colId xmlns:a16="http://schemas.microsoft.com/office/drawing/2014/main" val="987451795"/>
                    </a:ext>
                  </a:extLst>
                </a:gridCol>
                <a:gridCol w="1078972">
                  <a:extLst>
                    <a:ext uri="{9D8B030D-6E8A-4147-A177-3AD203B41FA5}">
                      <a16:colId xmlns:a16="http://schemas.microsoft.com/office/drawing/2014/main" val="829080163"/>
                    </a:ext>
                  </a:extLst>
                </a:gridCol>
                <a:gridCol w="736240">
                  <a:extLst>
                    <a:ext uri="{9D8B030D-6E8A-4147-A177-3AD203B41FA5}">
                      <a16:colId xmlns:a16="http://schemas.microsoft.com/office/drawing/2014/main" val="4032715389"/>
                    </a:ext>
                  </a:extLst>
                </a:gridCol>
                <a:gridCol w="736240">
                  <a:extLst>
                    <a:ext uri="{9D8B030D-6E8A-4147-A177-3AD203B41FA5}">
                      <a16:colId xmlns:a16="http://schemas.microsoft.com/office/drawing/2014/main" val="1800542671"/>
                    </a:ext>
                  </a:extLst>
                </a:gridCol>
                <a:gridCol w="736240">
                  <a:extLst>
                    <a:ext uri="{9D8B030D-6E8A-4147-A177-3AD203B41FA5}">
                      <a16:colId xmlns:a16="http://schemas.microsoft.com/office/drawing/2014/main" val="1353717524"/>
                    </a:ext>
                  </a:extLst>
                </a:gridCol>
                <a:gridCol w="2580013">
                  <a:extLst>
                    <a:ext uri="{9D8B030D-6E8A-4147-A177-3AD203B41FA5}">
                      <a16:colId xmlns:a16="http://schemas.microsoft.com/office/drawing/2014/main" val="1447647140"/>
                    </a:ext>
                  </a:extLst>
                </a:gridCol>
              </a:tblGrid>
              <a:tr h="238125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S8. Top 15 Hub Genes by Significance Frequency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0858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7704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 Tests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Pathway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583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JAK1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il15_mtor, nk_il15_dual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9436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TGFBR2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tgfb_signaling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8367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MT-ND1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mito_dysfunction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5264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TFAM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metabolic_recovery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063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MT-CYB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mito_dysfunction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63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il15_mtor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1308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MT-ND2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mito_dysfunction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429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DNMT3A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3573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il15_mtor, nk_il15_dual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221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SDHB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oxphos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4537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410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memory_t (literature)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2877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epigenetics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255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cancer_associated (literature)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583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RB1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cell_cycle, senescence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8258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712614"/>
                  </a:ext>
                </a:extLst>
              </a:tr>
              <a:tr h="190500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Ranked by total significant tests (p&lt;0.05) across 2 tissues × 6 lineages × 7 comparisons. C5 148-gene panel.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69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809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C9B22E-0183-151F-80F4-D5773257D425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2543969"/>
          <a:ext cx="4724400" cy="291465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12192976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58229338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6539077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83747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87161393"/>
                    </a:ext>
                  </a:extLst>
                </a:gridCol>
              </a:tblGrid>
              <a:tr h="238125"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S9. Oaxaca-Blinder Decomposition Summary Across All Comparisons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3342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31952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Significant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Per-cell dominant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Composition dominant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Per-cell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165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NL→IT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440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90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IT→IA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81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NL→CR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6167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NL→AR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0122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IA→AR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1895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622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473532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Per-cell dominant: &gt;50% of expression change from within-subcluster changes. 196 genes × 6 lineages × 2 tissues.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95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08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2B9E02-ABCC-412B-0A17-577EBDC346AD}"/>
              </a:ext>
            </a:extLst>
          </p:cNvPr>
          <p:cNvGraphicFramePr>
            <a:graphicFrameLocks noGrp="1"/>
          </p:cNvGraphicFramePr>
          <p:nvPr/>
        </p:nvGraphicFramePr>
        <p:xfrm>
          <a:off x="2660650" y="2559209"/>
          <a:ext cx="6870700" cy="2884170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361216254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5916718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447556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0833773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9947828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61958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578590648"/>
                    </a:ext>
                  </a:extLst>
                </a:gridCol>
              </a:tblGrid>
              <a:tr h="238125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S10. CR-Specific Residual Transcriptomic Alterations: Aberrant Lineage Expression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534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76215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 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 Lineage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8045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MEFV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zero (NL=0)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Inflammasome in T cells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3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MEFV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zero (NL=0)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Inflammasome in B cells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857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MEFV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zero (NL=0)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Inflammasome in NK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941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COL1A1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zero (NL=0)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Collagen in T cells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8539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FN1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zero (NL=0)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Fibronectin in T cells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627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NLRP3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zero (NL=0)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NLRP3 in B cells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241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DNMT3A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+412.3%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Persistent epigenetic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402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+2462.6%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NK/CD8T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Cytotoxic PlasmaB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7732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863952"/>
                  </a:ext>
                </a:extLst>
              </a:tr>
              <a:tr h="190500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CR-specific: NL→CR significant (p&lt;0.05) with NL→IA non-significant. Showing top examples.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46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63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C63707-11D1-A1B0-0240-F75FC46C3F33}"/>
              </a:ext>
            </a:extLst>
          </p:cNvPr>
          <p:cNvSpPr txBox="1"/>
          <p:nvPr/>
        </p:nvSpPr>
        <p:spPr>
          <a:xfrm>
            <a:off x="2434443" y="2551837"/>
            <a:ext cx="70539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Table S11. Complete Donor-Level BCR/TCR Metrics.</a:t>
            </a:r>
          </a:p>
          <a:p>
            <a:pPr rtl="0"/>
            <a:endParaRPr lang="en-US" dirty="0"/>
          </a:p>
          <a:p>
            <a:pPr rtl="0"/>
            <a:endParaRPr lang="en-US" b="0" dirty="0">
              <a:effectLst/>
            </a:endParaRPr>
          </a:p>
          <a:p>
            <a:r>
              <a:rPr lang="en-US" dirty="0"/>
              <a:t>* See excel data sheet for ‘S11C. </a:t>
            </a:r>
            <a:r>
              <a:rPr lang="en-US" dirty="0" err="1"/>
              <a:t>PlasmaB</a:t>
            </a:r>
            <a:r>
              <a:rPr lang="en-US" dirty="0"/>
              <a:t> Subcluster Proportions’.</a:t>
            </a:r>
          </a:p>
          <a:p>
            <a:r>
              <a:rPr lang="en-US" b="0" dirty="0">
                <a:effectLst/>
              </a:rPr>
              <a:t>* S11A, S11B, S11D, and S11E are displayed in this pptx file. </a:t>
            </a:r>
            <a:r>
              <a:rPr lang="en-US" dirty="0"/>
              <a:t>And also see the excel data sheet to see the detail display.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294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45C124-F7B1-5FB5-A5EE-9EB24F398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556652"/>
              </p:ext>
            </p:extLst>
          </p:nvPr>
        </p:nvGraphicFramePr>
        <p:xfrm>
          <a:off x="1793173" y="0"/>
          <a:ext cx="8229597" cy="6984315"/>
        </p:xfrm>
        <a:graphic>
          <a:graphicData uri="http://schemas.openxmlformats.org/drawingml/2006/table">
            <a:tbl>
              <a:tblPr/>
              <a:tblGrid>
                <a:gridCol w="439522">
                  <a:extLst>
                    <a:ext uri="{9D8B030D-6E8A-4147-A177-3AD203B41FA5}">
                      <a16:colId xmlns:a16="http://schemas.microsoft.com/office/drawing/2014/main" val="1705173538"/>
                    </a:ext>
                  </a:extLst>
                </a:gridCol>
                <a:gridCol w="439522">
                  <a:extLst>
                    <a:ext uri="{9D8B030D-6E8A-4147-A177-3AD203B41FA5}">
                      <a16:colId xmlns:a16="http://schemas.microsoft.com/office/drawing/2014/main" val="3934994543"/>
                    </a:ext>
                  </a:extLst>
                </a:gridCol>
                <a:gridCol w="439522">
                  <a:extLst>
                    <a:ext uri="{9D8B030D-6E8A-4147-A177-3AD203B41FA5}">
                      <a16:colId xmlns:a16="http://schemas.microsoft.com/office/drawing/2014/main" val="1670927229"/>
                    </a:ext>
                  </a:extLst>
                </a:gridCol>
                <a:gridCol w="439522">
                  <a:extLst>
                    <a:ext uri="{9D8B030D-6E8A-4147-A177-3AD203B41FA5}">
                      <a16:colId xmlns:a16="http://schemas.microsoft.com/office/drawing/2014/main" val="1397475904"/>
                    </a:ext>
                  </a:extLst>
                </a:gridCol>
                <a:gridCol w="439522">
                  <a:extLst>
                    <a:ext uri="{9D8B030D-6E8A-4147-A177-3AD203B41FA5}">
                      <a16:colId xmlns:a16="http://schemas.microsoft.com/office/drawing/2014/main" val="2483981442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2357569193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441846768"/>
                    </a:ext>
                  </a:extLst>
                </a:gridCol>
                <a:gridCol w="631813">
                  <a:extLst>
                    <a:ext uri="{9D8B030D-6E8A-4147-A177-3AD203B41FA5}">
                      <a16:colId xmlns:a16="http://schemas.microsoft.com/office/drawing/2014/main" val="1345401490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1223502861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752749364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484705360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1863104143"/>
                    </a:ext>
                  </a:extLst>
                </a:gridCol>
                <a:gridCol w="723379">
                  <a:extLst>
                    <a:ext uri="{9D8B030D-6E8A-4147-A177-3AD203B41FA5}">
                      <a16:colId xmlns:a16="http://schemas.microsoft.com/office/drawing/2014/main" val="2348889023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1712201320"/>
                    </a:ext>
                  </a:extLst>
                </a:gridCol>
                <a:gridCol w="686753">
                  <a:extLst>
                    <a:ext uri="{9D8B030D-6E8A-4147-A177-3AD203B41FA5}">
                      <a16:colId xmlns:a16="http://schemas.microsoft.com/office/drawing/2014/main" val="2152809763"/>
                    </a:ext>
                  </a:extLst>
                </a:gridCol>
              </a:tblGrid>
              <a:tr h="152400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S11A. BCR Donor-Level Metrics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575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Donor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n_bcr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pct_bcr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pct_IgM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pct_IgG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pct_IgA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pct_IgD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pct_switched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pct_IGHV3_23</a:t>
                      </a:r>
                    </a:p>
                  </a:txBody>
                  <a:tcPr marL="4395" marR="4395" marT="439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959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2691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31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6198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9020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752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788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11.127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0.33174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4.37365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55.94150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23.58318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17.55027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2.92505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41.13346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6.7642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6787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P191008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8518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099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0.56762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0.47348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50.84746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22.03390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25.42373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1.69492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47.45763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6.7797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3647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P191008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9256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4267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5.084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0.4552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1.3322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33.6683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53.7688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9.5477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3.0151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63.3166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704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15.706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9.0442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74.6570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11.5416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11.1380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2.6634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22.6796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6.3710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768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P191028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8.706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0.3105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5.3286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74.2560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15.0298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7.8869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2.8274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22.9167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11.0119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3752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P191112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15.792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0.2143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13.1611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59.6564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24.7038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13.5071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2.1327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38.2109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12.8326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2255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19.062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0.3268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4.5823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58.3916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18.0070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20.6294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2.9720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38.6364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10.9948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7572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P190801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0.5770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0.4334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61.1111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24.0741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11.1111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3.7037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35.1852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5.5556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716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3.997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2.7125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69.9725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14.6006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9.6419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5.7851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24.2424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6.3361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0653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P191028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1.451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0.4950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53.8462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30.7692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10.2564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5.1282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41.0256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6.8376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9132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P191112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4.646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0.4028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40.7801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36.8794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18.4397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3.9007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55.3191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12.7660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4848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P190326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11.486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0.3593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3.3705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69.1211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11.8765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14.4893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4.5131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26.3658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13.5071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1119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P190604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14.639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0.3335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4.3014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70.5224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13.0597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14.1791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2.2388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27.2388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13.3829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99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P190808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12.208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0.2750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7.4954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65.0943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21.4885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12.3690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1.0482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33.8574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7.9581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3803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P190902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10.343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0.2857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6.7410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62.8099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24.0850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11.2161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35.3011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6.1321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0178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4.8792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72.5041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15.8756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10.1473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1.4730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26.0229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10.1307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2470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P190326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0.7128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60.0000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5764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P190402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3.615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0.4156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1.9822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43.5798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38.9105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14.7860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2.7237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53.6965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8.9494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747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P190604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3.760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0.4985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0.8988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56.8966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26.7241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13.7931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2.5862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40.5172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16.3793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7496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P190808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3.231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0.4573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1.3402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56.0241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30.7229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9.0361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4.2169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39.7590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7.1856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540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P190902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9253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2.042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0.5831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0.3932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25.4545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36.3636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32.7273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5.4545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69.0909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16.3636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4825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D528848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17.229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0.2315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11.2672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64.5299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5.6980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6.6952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23.0769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12.3932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7.7635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7965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D529074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0.4215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1.8779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70.5128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11.1111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12.8205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5.5556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23.9316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9.8291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9454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0.4798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1.0834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65.1852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17.0370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4.4444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30.3704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0272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2.917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0.6772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0.1685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14.2857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19.0476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28.5714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38.0952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47.6190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9.5238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8327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D529409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3.485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0.6675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0.1846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8.6957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34.7826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39.1304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17.3913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73.9130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13.0435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6532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D528848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5.937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0.4026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2.2390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59.7865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7.1174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5.6940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27.4021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12.8114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9.2527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0232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D529074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7.639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0.3786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2.6643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14.6018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67.6991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16.1504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1.5487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83.8496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3.7363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5393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0.7128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0.1204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942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0.6393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0.2408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26.6667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40.0000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3.3333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9396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D529409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6.391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0.4406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20.9302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40.9302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32.5581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5.5814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73.4884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14.8837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1935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Dhc570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3.959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0.4567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1.3482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76.7857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14.2857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5.9524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2.9762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20.2381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8.9286</a:t>
                      </a:r>
                    </a:p>
                  </a:txBody>
                  <a:tcPr marL="4395" marR="4395" marT="4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280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586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5287CF-C48D-9633-D5C4-357C04D4A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072229"/>
              </p:ext>
            </p:extLst>
          </p:nvPr>
        </p:nvGraphicFramePr>
        <p:xfrm>
          <a:off x="1531917" y="0"/>
          <a:ext cx="7172697" cy="7075575"/>
        </p:xfrm>
        <a:graphic>
          <a:graphicData uri="http://schemas.openxmlformats.org/drawingml/2006/table">
            <a:tbl>
              <a:tblPr/>
              <a:tblGrid>
                <a:gridCol w="671457">
                  <a:extLst>
                    <a:ext uri="{9D8B030D-6E8A-4147-A177-3AD203B41FA5}">
                      <a16:colId xmlns:a16="http://schemas.microsoft.com/office/drawing/2014/main" val="54087656"/>
                    </a:ext>
                  </a:extLst>
                </a:gridCol>
                <a:gridCol w="671457">
                  <a:extLst>
                    <a:ext uri="{9D8B030D-6E8A-4147-A177-3AD203B41FA5}">
                      <a16:colId xmlns:a16="http://schemas.microsoft.com/office/drawing/2014/main" val="1432310117"/>
                    </a:ext>
                  </a:extLst>
                </a:gridCol>
                <a:gridCol w="671457">
                  <a:extLst>
                    <a:ext uri="{9D8B030D-6E8A-4147-A177-3AD203B41FA5}">
                      <a16:colId xmlns:a16="http://schemas.microsoft.com/office/drawing/2014/main" val="2915941269"/>
                    </a:ext>
                  </a:extLst>
                </a:gridCol>
                <a:gridCol w="671457">
                  <a:extLst>
                    <a:ext uri="{9D8B030D-6E8A-4147-A177-3AD203B41FA5}">
                      <a16:colId xmlns:a16="http://schemas.microsoft.com/office/drawing/2014/main" val="1702760699"/>
                    </a:ext>
                  </a:extLst>
                </a:gridCol>
                <a:gridCol w="671457">
                  <a:extLst>
                    <a:ext uri="{9D8B030D-6E8A-4147-A177-3AD203B41FA5}">
                      <a16:colId xmlns:a16="http://schemas.microsoft.com/office/drawing/2014/main" val="1330407366"/>
                    </a:ext>
                  </a:extLst>
                </a:gridCol>
                <a:gridCol w="912761">
                  <a:extLst>
                    <a:ext uri="{9D8B030D-6E8A-4147-A177-3AD203B41FA5}">
                      <a16:colId xmlns:a16="http://schemas.microsoft.com/office/drawing/2014/main" val="3123970846"/>
                    </a:ext>
                  </a:extLst>
                </a:gridCol>
                <a:gridCol w="912761">
                  <a:extLst>
                    <a:ext uri="{9D8B030D-6E8A-4147-A177-3AD203B41FA5}">
                      <a16:colId xmlns:a16="http://schemas.microsoft.com/office/drawing/2014/main" val="3769552638"/>
                    </a:ext>
                  </a:extLst>
                </a:gridCol>
                <a:gridCol w="1077129">
                  <a:extLst>
                    <a:ext uri="{9D8B030D-6E8A-4147-A177-3AD203B41FA5}">
                      <a16:colId xmlns:a16="http://schemas.microsoft.com/office/drawing/2014/main" val="2662805949"/>
                    </a:ext>
                  </a:extLst>
                </a:gridCol>
                <a:gridCol w="912761">
                  <a:extLst>
                    <a:ext uri="{9D8B030D-6E8A-4147-A177-3AD203B41FA5}">
                      <a16:colId xmlns:a16="http://schemas.microsoft.com/office/drawing/2014/main" val="4099208362"/>
                    </a:ext>
                  </a:extLst>
                </a:gridCol>
              </a:tblGrid>
              <a:tr h="152400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S11B. TCR Donor-Level Metrics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0377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donor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n_tcr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pct_tcr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4835" marR="4835" marT="483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1879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878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256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930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8258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P191127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7373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2001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57.91294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0.390730507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4.714070637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5569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P191008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7410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6959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51.06936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0.42281764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1.870819656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3609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P191008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7139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P191217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3962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54.14337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0.358584982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2.796357085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1151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38.65738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0.348296039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5.054668411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1805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P191028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45.4463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0.239692085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8.142261273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4182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37.20583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0.262651129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7.883110793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4607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P190719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12.94079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0.4580704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0.844090135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4424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P190801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44.48838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0.34381893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3.445467335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0704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5748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63.29002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0.301441618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6.547868796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7027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P191028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5425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67.29099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0.303711102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5.723523459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334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P191112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49.76936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0.419650913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2.796357085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9141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P190326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24.30593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0.489338878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1.290816201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5159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P190604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23.7551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0.399272106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1.774563763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433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P190808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4481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57.27982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0.251063707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9.289927685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9789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P190902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24.84449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0.292149244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4.580793247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821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29.01538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0.325590075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3.736703112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3209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P190326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19.43437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0.513947047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0.493619962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P190402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49.05767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0.362032726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3.551595627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5781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P190604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42.23663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0.374051193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1.94239455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397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P190808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54.27632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0.456592587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2.361971518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1273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P190902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18.18182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0.765784245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0.029617198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62952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P190910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30.37505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0.45216863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1.16247501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3249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D528848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29.00969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0.340356502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4.526495051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214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D529074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42.65673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0.558584257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1.984352247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191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2.464789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0.646508332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0.106128292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5568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5.694444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0.653162919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0.096255893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6624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D529409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3.636364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0.727673426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0.044425797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285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D528848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19.20558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0.467861286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1.083495817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4940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D529074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41.68905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0.463072796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1.779499963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3737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5.797101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0.652303362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0.098723992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9450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D529354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778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14.86719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0.613013369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0.496088062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742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D529409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3.299643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0.585012471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0.197447985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8894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Dhc570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27.97549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0.519460319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1.182219809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4835" marR="4835" marT="48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31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40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792616-0C75-88DD-9042-1193B5F32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659549"/>
              </p:ext>
            </p:extLst>
          </p:nvPr>
        </p:nvGraphicFramePr>
        <p:xfrm>
          <a:off x="1258785" y="-11875"/>
          <a:ext cx="9025246" cy="7288918"/>
        </p:xfrm>
        <a:graphic>
          <a:graphicData uri="http://schemas.openxmlformats.org/drawingml/2006/table">
            <a:tbl>
              <a:tblPr/>
              <a:tblGrid>
                <a:gridCol w="1062675">
                  <a:extLst>
                    <a:ext uri="{9D8B030D-6E8A-4147-A177-3AD203B41FA5}">
                      <a16:colId xmlns:a16="http://schemas.microsoft.com/office/drawing/2014/main" val="813556477"/>
                    </a:ext>
                  </a:extLst>
                </a:gridCol>
                <a:gridCol w="643591">
                  <a:extLst>
                    <a:ext uri="{9D8B030D-6E8A-4147-A177-3AD203B41FA5}">
                      <a16:colId xmlns:a16="http://schemas.microsoft.com/office/drawing/2014/main" val="3772838025"/>
                    </a:ext>
                  </a:extLst>
                </a:gridCol>
                <a:gridCol w="643591">
                  <a:extLst>
                    <a:ext uri="{9D8B030D-6E8A-4147-A177-3AD203B41FA5}">
                      <a16:colId xmlns:a16="http://schemas.microsoft.com/office/drawing/2014/main" val="2464433372"/>
                    </a:ext>
                  </a:extLst>
                </a:gridCol>
                <a:gridCol w="643591">
                  <a:extLst>
                    <a:ext uri="{9D8B030D-6E8A-4147-A177-3AD203B41FA5}">
                      <a16:colId xmlns:a16="http://schemas.microsoft.com/office/drawing/2014/main" val="289959220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val="3495417582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val="4226857760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val="1360039013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val="619756382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val="3795746076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val="3365073882"/>
                    </a:ext>
                  </a:extLst>
                </a:gridCol>
                <a:gridCol w="1100093">
                  <a:extLst>
                    <a:ext uri="{9D8B030D-6E8A-4147-A177-3AD203B41FA5}">
                      <a16:colId xmlns:a16="http://schemas.microsoft.com/office/drawing/2014/main" val="540385867"/>
                    </a:ext>
                  </a:extLst>
                </a:gridCol>
                <a:gridCol w="1040225">
                  <a:extLst>
                    <a:ext uri="{9D8B030D-6E8A-4147-A177-3AD203B41FA5}">
                      <a16:colId xmlns:a16="http://schemas.microsoft.com/office/drawing/2014/main" val="2584474079"/>
                    </a:ext>
                  </a:extLst>
                </a:gridCol>
              </a:tblGrid>
              <a:tr h="118241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S11D. BCR/TCR All Statistical Tests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296827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NL_mean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IT_mean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pct_change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p_value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consistency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NL_IA_p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section</a:t>
                      </a:r>
                    </a:p>
                  </a:txBody>
                  <a:tcPr marL="3751" marR="3751" marT="375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18342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B_c01-IGHD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0.4844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1.5231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214.420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4562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B_c02-STX16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0.4472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110.851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0.7739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03332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B_c03-CD1C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0.2265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1.3856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511.801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9051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B_c04-COCH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1.3123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7.0570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437.758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0.0222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Chronic-persistent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69764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B_c05-TCL1A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23.2079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12.7969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-44.859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227551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B_c06-CD70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17.2701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15.2210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-11.865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884584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B_c07-FCRL5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12.9652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28.2248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117.696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554357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plasmaB_c01-SDC1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32.4529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25.9958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-19.897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823058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plasmaB_c02-CD52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3.4411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5.4494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58.365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0.5368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031116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plasmaB_c03-MKI67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8.1924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1.4033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-82.871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20619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B_c01-IGHD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28.0103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33.2373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18.661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29532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B_c02-STX16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7.8198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7.2053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5560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B_c03-CD1C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20.2444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33.2994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64.487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211489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B_c04-COCH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21.8152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19.9372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-8.609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0.4127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76042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B_c05-TCL1A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1.7681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0.3206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-81.867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0.6228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645802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B_c06-CD70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2.3588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0.3598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-84.747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677094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B_c07-FCRL5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0.4006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-57.650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0.9021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149622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plasmaB_c01-SDC1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-96.316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84608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plasmaB_c02-CD52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7.9229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4.5407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-42.689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15167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plasmaB_c03-MKI67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6.8990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0.6175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-91.049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404745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44.0864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32.8485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-25.491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B_diff_ratio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521429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SDC1_ratio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32.4529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25.9958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-19.897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B_diff_ratio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605769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SDC1_of_PlasmaB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66.8954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76.8118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14.824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B_diff_ratio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773197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17.0377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5.2398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-69.246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B_diff_ratio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217198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SDC1_ratio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2.2158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-96.316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B_diff_ratio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849657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SDC1_of_PlasmaB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6.1836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1.3492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-78.181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B_diff_ratio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002481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0.5334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5.611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30889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1.3549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0.9470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-30.109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012452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pct_IgM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45.9063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44.3910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412968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pct_IgG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30.5610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35.8776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17.397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97926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pct_IgA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13.3925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16.7352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24.959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901206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10.1403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2.9963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-70.452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069312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pct_switched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43.9535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52.6127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19.701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659151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pct_bcr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4.4457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2.7473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-38.204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039524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-33.333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07962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pct_IGHV3_23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7.8002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12.4423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59.512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85297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0.4955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-36.488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89749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2.9163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5.3575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83.709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913082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pct_IgM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44.6419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68.0104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52.347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61447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pct_IgG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16.7945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17.2771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2.873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98244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pct_IgA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20.8509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12.4801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-40.146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788011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17.7127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2.2324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-87.396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153107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pct_switched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37.6454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29.7572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-20.954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31208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pct_bcr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6.7682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11.6759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72.511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003646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89077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pct_IGHV3_23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-4.453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390203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0.4874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-11.396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IA-emrg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455766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0.8062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1.5903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97.245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IA-emrg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937501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pct_tcr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18.8057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35.5936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89.271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365485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135.3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-35.714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82151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n_unique_clones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923794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0.5853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-39.944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IT-spec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40941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1.3515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4.1346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205.917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IA-emrg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159780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pct_tcr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16.6924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31.8401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90.746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832519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115.4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56.8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-50.780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95854"/>
                  </a:ext>
                </a:extLst>
              </a:tr>
              <a:tr h="118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n_unique_clones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3751" marR="3751" marT="375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51" marR="3751" marT="3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862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682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7D3136-3B41-312A-8787-FB4838EF71DD}"/>
              </a:ext>
            </a:extLst>
          </p:cNvPr>
          <p:cNvGraphicFramePr>
            <a:graphicFrameLocks noGrp="1"/>
          </p:cNvGraphicFramePr>
          <p:nvPr/>
        </p:nvGraphicFramePr>
        <p:xfrm>
          <a:off x="1174749" y="3043079"/>
          <a:ext cx="9842502" cy="1916430"/>
        </p:xfrm>
        <a:graphic>
          <a:graphicData uri="http://schemas.openxmlformats.org/drawingml/2006/table">
            <a:tbl>
              <a:tblPr/>
              <a:tblGrid>
                <a:gridCol w="1277999">
                  <a:extLst>
                    <a:ext uri="{9D8B030D-6E8A-4147-A177-3AD203B41FA5}">
                      <a16:colId xmlns:a16="http://schemas.microsoft.com/office/drawing/2014/main" val="1709154977"/>
                    </a:ext>
                  </a:extLst>
                </a:gridCol>
                <a:gridCol w="705761">
                  <a:extLst>
                    <a:ext uri="{9D8B030D-6E8A-4147-A177-3AD203B41FA5}">
                      <a16:colId xmlns:a16="http://schemas.microsoft.com/office/drawing/2014/main" val="1724730451"/>
                    </a:ext>
                  </a:extLst>
                </a:gridCol>
                <a:gridCol w="715298">
                  <a:extLst>
                    <a:ext uri="{9D8B030D-6E8A-4147-A177-3AD203B41FA5}">
                      <a16:colId xmlns:a16="http://schemas.microsoft.com/office/drawing/2014/main" val="3434717704"/>
                    </a:ext>
                  </a:extLst>
                </a:gridCol>
                <a:gridCol w="610388">
                  <a:extLst>
                    <a:ext uri="{9D8B030D-6E8A-4147-A177-3AD203B41FA5}">
                      <a16:colId xmlns:a16="http://schemas.microsoft.com/office/drawing/2014/main" val="3468141207"/>
                    </a:ext>
                  </a:extLst>
                </a:gridCol>
                <a:gridCol w="782059">
                  <a:extLst>
                    <a:ext uri="{9D8B030D-6E8A-4147-A177-3AD203B41FA5}">
                      <a16:colId xmlns:a16="http://schemas.microsoft.com/office/drawing/2014/main" val="2206199428"/>
                    </a:ext>
                  </a:extLst>
                </a:gridCol>
                <a:gridCol w="610388">
                  <a:extLst>
                    <a:ext uri="{9D8B030D-6E8A-4147-A177-3AD203B41FA5}">
                      <a16:colId xmlns:a16="http://schemas.microsoft.com/office/drawing/2014/main" val="4254401818"/>
                    </a:ext>
                  </a:extLst>
                </a:gridCol>
                <a:gridCol w="610388">
                  <a:extLst>
                    <a:ext uri="{9D8B030D-6E8A-4147-A177-3AD203B41FA5}">
                      <a16:colId xmlns:a16="http://schemas.microsoft.com/office/drawing/2014/main" val="1952996609"/>
                    </a:ext>
                  </a:extLst>
                </a:gridCol>
                <a:gridCol w="610388">
                  <a:extLst>
                    <a:ext uri="{9D8B030D-6E8A-4147-A177-3AD203B41FA5}">
                      <a16:colId xmlns:a16="http://schemas.microsoft.com/office/drawing/2014/main" val="3037926344"/>
                    </a:ext>
                  </a:extLst>
                </a:gridCol>
                <a:gridCol w="610388">
                  <a:extLst>
                    <a:ext uri="{9D8B030D-6E8A-4147-A177-3AD203B41FA5}">
                      <a16:colId xmlns:a16="http://schemas.microsoft.com/office/drawing/2014/main" val="1576469034"/>
                    </a:ext>
                  </a:extLst>
                </a:gridCol>
                <a:gridCol w="750268">
                  <a:extLst>
                    <a:ext uri="{9D8B030D-6E8A-4147-A177-3AD203B41FA5}">
                      <a16:colId xmlns:a16="http://schemas.microsoft.com/office/drawing/2014/main" val="684691066"/>
                    </a:ext>
                  </a:extLst>
                </a:gridCol>
                <a:gridCol w="1309790">
                  <a:extLst>
                    <a:ext uri="{9D8B030D-6E8A-4147-A177-3AD203B41FA5}">
                      <a16:colId xmlns:a16="http://schemas.microsoft.com/office/drawing/2014/main" val="1096590242"/>
                    </a:ext>
                  </a:extLst>
                </a:gridCol>
                <a:gridCol w="1249387">
                  <a:extLst>
                    <a:ext uri="{9D8B030D-6E8A-4147-A177-3AD203B41FA5}">
                      <a16:colId xmlns:a16="http://schemas.microsoft.com/office/drawing/2014/main" val="2134737253"/>
                    </a:ext>
                  </a:extLst>
                </a:gridCol>
              </a:tblGrid>
              <a:tr h="238125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S11E. BCR/TCR Significant Tests (p&lt;0.10)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065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NL_mean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IT_mean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pct_change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p_value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consistency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NL_IA_p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section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472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B_c04-COCH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7.0570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437.7582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Chronic-persistent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650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B_c07-FCRL5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12.9652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28.2248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117.6965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701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plasmaB_c03-MKI67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8.1924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-82.8713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A_subcluster_prop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5752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17.7127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-87.3965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4538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200.0000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C_BCR_repertoire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990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pct_tcr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18.8057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35.5936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89.2707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014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-39.9439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★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IT-spec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D_TCR_repertoire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647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958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A42822-482D-6060-CBD5-4405D5AEC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451231"/>
              </p:ext>
            </p:extLst>
          </p:nvPr>
        </p:nvGraphicFramePr>
        <p:xfrm>
          <a:off x="1496291" y="0"/>
          <a:ext cx="8039594" cy="6925677"/>
        </p:xfrm>
        <a:graphic>
          <a:graphicData uri="http://schemas.openxmlformats.org/drawingml/2006/table">
            <a:tbl>
              <a:tblPr/>
              <a:tblGrid>
                <a:gridCol w="543620">
                  <a:extLst>
                    <a:ext uri="{9D8B030D-6E8A-4147-A177-3AD203B41FA5}">
                      <a16:colId xmlns:a16="http://schemas.microsoft.com/office/drawing/2014/main" val="1118499689"/>
                    </a:ext>
                  </a:extLst>
                </a:gridCol>
                <a:gridCol w="750056">
                  <a:extLst>
                    <a:ext uri="{9D8B030D-6E8A-4147-A177-3AD203B41FA5}">
                      <a16:colId xmlns:a16="http://schemas.microsoft.com/office/drawing/2014/main" val="1976411053"/>
                    </a:ext>
                  </a:extLst>
                </a:gridCol>
                <a:gridCol w="997780">
                  <a:extLst>
                    <a:ext uri="{9D8B030D-6E8A-4147-A177-3AD203B41FA5}">
                      <a16:colId xmlns:a16="http://schemas.microsoft.com/office/drawing/2014/main" val="2291094180"/>
                    </a:ext>
                  </a:extLst>
                </a:gridCol>
                <a:gridCol w="1094118">
                  <a:extLst>
                    <a:ext uri="{9D8B030D-6E8A-4147-A177-3AD203B41FA5}">
                      <a16:colId xmlns:a16="http://schemas.microsoft.com/office/drawing/2014/main" val="1331719728"/>
                    </a:ext>
                  </a:extLst>
                </a:gridCol>
                <a:gridCol w="495451">
                  <a:extLst>
                    <a:ext uri="{9D8B030D-6E8A-4147-A177-3AD203B41FA5}">
                      <a16:colId xmlns:a16="http://schemas.microsoft.com/office/drawing/2014/main" val="3983877210"/>
                    </a:ext>
                  </a:extLst>
                </a:gridCol>
                <a:gridCol w="495451">
                  <a:extLst>
                    <a:ext uri="{9D8B030D-6E8A-4147-A177-3AD203B41FA5}">
                      <a16:colId xmlns:a16="http://schemas.microsoft.com/office/drawing/2014/main" val="1838387494"/>
                    </a:ext>
                  </a:extLst>
                </a:gridCol>
                <a:gridCol w="495451">
                  <a:extLst>
                    <a:ext uri="{9D8B030D-6E8A-4147-A177-3AD203B41FA5}">
                      <a16:colId xmlns:a16="http://schemas.microsoft.com/office/drawing/2014/main" val="2133203392"/>
                    </a:ext>
                  </a:extLst>
                </a:gridCol>
                <a:gridCol w="669774">
                  <a:extLst>
                    <a:ext uri="{9D8B030D-6E8A-4147-A177-3AD203B41FA5}">
                      <a16:colId xmlns:a16="http://schemas.microsoft.com/office/drawing/2014/main" val="1118020346"/>
                    </a:ext>
                  </a:extLst>
                </a:gridCol>
                <a:gridCol w="669774">
                  <a:extLst>
                    <a:ext uri="{9D8B030D-6E8A-4147-A177-3AD203B41FA5}">
                      <a16:colId xmlns:a16="http://schemas.microsoft.com/office/drawing/2014/main" val="1486097050"/>
                    </a:ext>
                  </a:extLst>
                </a:gridCol>
                <a:gridCol w="669774">
                  <a:extLst>
                    <a:ext uri="{9D8B030D-6E8A-4147-A177-3AD203B41FA5}">
                      <a16:colId xmlns:a16="http://schemas.microsoft.com/office/drawing/2014/main" val="4250386533"/>
                    </a:ext>
                  </a:extLst>
                </a:gridCol>
                <a:gridCol w="598670">
                  <a:extLst>
                    <a:ext uri="{9D8B030D-6E8A-4147-A177-3AD203B41FA5}">
                      <a16:colId xmlns:a16="http://schemas.microsoft.com/office/drawing/2014/main" val="1865552708"/>
                    </a:ext>
                  </a:extLst>
                </a:gridCol>
                <a:gridCol w="559675">
                  <a:extLst>
                    <a:ext uri="{9D8B030D-6E8A-4147-A177-3AD203B41FA5}">
                      <a16:colId xmlns:a16="http://schemas.microsoft.com/office/drawing/2014/main" val="756566346"/>
                    </a:ext>
                  </a:extLst>
                </a:gridCol>
              </a:tblGrid>
              <a:tr h="153423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S12. BCR/TCR Detailed Donor-Level Statistical Results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607964"/>
                  </a:ext>
                </a:extLst>
              </a:tr>
              <a:tr h="2270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NL_mean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IT_mean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IA_mean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NL_IT_p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IT_IA_p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NL_IA_p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NL_IT_cons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IT_IA_cons</a:t>
                      </a:r>
                    </a:p>
                  </a:txBody>
                  <a:tcPr marL="3949" marR="3949" marT="39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376183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0.5051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0.5334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0.4381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0.5368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754568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1.3549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0.9470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2.1796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0.4286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51080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pct_IgM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45.9063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44.3910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56.8203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0.9307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564095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pct_IgG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30.5610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35.8776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24.8661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0.9271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97323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pct_IgA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13.3925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16.7352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14.0157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0.5368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571678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10.1403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2.9963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4.2980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373254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pct_switched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43.9535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38.8818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0.5368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0.9307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910855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4.4457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2.7473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6.0091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0.2468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0.5476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0.9307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598537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347495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n_unique_clones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054653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pct_IGHV3_23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7.8002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12.4423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8.4980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0.0952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34723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0.4955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0.3140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036781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2.9163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5.3575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7.2165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0.5556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255014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pct_IgM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44.6419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68.0104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60.5594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632330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pct_IgG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16.7945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17.2771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26.2610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119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pct_IgA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20.8509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12.4801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10.5199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0.2857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4021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CHRONIC-PERSISTENT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2.2324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2.6596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0.2857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952858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pct_switched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37.6454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29.7572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36.7809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664856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6.7682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11.6759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11.3219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0.2857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70180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CHRONIC-PERSISTENT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0.2249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23823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n_unique_clones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12461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930237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pct_IGHV3_23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10.6986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10.2222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10.0539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448667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0.5501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0.4874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079138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0.8062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1.5903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3.8715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0.3939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0.0303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92388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18.8057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35.5936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47.5559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0.0649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504394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135.3333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0.7483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0.9307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4141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n_unique_clones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36/36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580709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clonality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IT-SPECIFIC-RESOLVED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0.5556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922326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pct_singleton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1.3515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4.1346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5.9691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880563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pct_tcr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16.6924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31.8401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43.8632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133015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top_clone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115.4000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56.8000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80.7500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0.5296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0.5556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0.5386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174014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n_unique_clones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69413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B_c01-IGHD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0.4844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1.5231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7.6953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29713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B_c02-STX16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0.4472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0.9429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0.6975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0.7739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536181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B_c03-CD1C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0.2265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1.3856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5.3079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095985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B_c04-COCH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CHRONIC-PERSISTENT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7.0570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10.7235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319577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B_c05-TCL1A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23.2079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12.7969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314789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B_c06-CD70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17.2701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15.2210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23.8474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475374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B_c07-FCRL5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12.9652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28.2248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23.9678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296731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plasmaB_c01-SDC1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TRANSITION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32.4529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25.9958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4.9784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0.9307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89576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plasmaB_c02-CD52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3.4411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5.4494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4.5836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0.3290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0.5476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0.5368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665498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plasmaB_c03-MKI67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8.1924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1.4033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0.8937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25/30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53610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B_c01-IGHD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28.0103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33.2373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27.3349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380077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B_c02-STX16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7.8198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7.2053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9.6463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0.5556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891939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B_c03-CD1C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20.2444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33.2994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19.4915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0.9048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216556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B_c04-COCH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21.8152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19.9372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18.1389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0.5476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0.4127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818485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B_c05-TCL1A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1.7681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0.3206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4.0581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0.1732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0.6228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0.6228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007431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B_c06-CD70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2.3588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0.3598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6.3897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92699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B_c07-FCRL5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0.9458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0.4006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3.5516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0.9021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934620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plasmaB_c01-SDC1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2.2158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8.2053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0.5038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0.8933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050342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plasmaB_c02-CD52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7.9229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4.5407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2.6946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67266"/>
                  </a:ext>
                </a:extLst>
              </a:tr>
              <a:tr h="124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Subcluster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plasmaB_c03-MKI67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6.8990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0.6175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0.4890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0.2222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0.7302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19/25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12/20</a:t>
                      </a:r>
                    </a:p>
                  </a:txBody>
                  <a:tcPr marL="3949" marR="3949" marT="39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120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8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788CB7-E7BA-426A-AAB5-892406994B5B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6023</TotalTime>
  <Words>9445</Words>
  <Application>Microsoft Office PowerPoint</Application>
  <PresentationFormat>Widescreen</PresentationFormat>
  <Paragraphs>3910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MIN</dc:creator>
  <cp:lastModifiedBy>YOUNG MIN</cp:lastModifiedBy>
  <cp:revision>15</cp:revision>
  <dcterms:created xsi:type="dcterms:W3CDTF">2026-03-10T09:01:37Z</dcterms:created>
  <dcterms:modified xsi:type="dcterms:W3CDTF">2026-03-17T14:41:14Z</dcterms:modified>
</cp:coreProperties>
</file>