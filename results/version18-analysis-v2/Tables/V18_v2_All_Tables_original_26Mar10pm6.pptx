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7" r:id="rId2"/>
    <p:sldId id="268" r:id="rId3"/>
    <p:sldId id="269" r:id="rId4"/>
    <p:sldId id="273" r:id="rId5"/>
    <p:sldId id="270" r:id="rId6"/>
    <p:sldId id="271" r:id="rId7"/>
    <p:sldId id="272" r:id="rId8"/>
    <p:sldId id="280" r:id="rId9"/>
    <p:sldId id="274" r:id="rId10"/>
    <p:sldId id="264" r:id="rId11"/>
    <p:sldId id="265" r:id="rId12"/>
    <p:sldId id="266" r:id="rId13"/>
    <p:sldId id="276" r:id="rId14"/>
    <p:sldId id="277" r:id="rId15"/>
    <p:sldId id="278" r:id="rId16"/>
    <p:sldId id="279" r:id="rId17"/>
    <p:sldId id="281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77790" autoAdjust="0"/>
  </p:normalViewPr>
  <p:slideViewPr>
    <p:cSldViewPr snapToGrid="0">
      <p:cViewPr varScale="1">
        <p:scale>
          <a:sx n="81" d="100"/>
          <a:sy n="81" d="100"/>
        </p:scale>
        <p:origin x="684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EC877-A59C-4E8F-A50A-9472F1315D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E2D08-2437-430E-BBC9-ADA4B1046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7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37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17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 8. BCR/TCR Donor-Level Repertoire Metrics Across the HBV Disease Spectrum.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 A: BCR repertoire metrics. Panel B: TCR repertoire metrics.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 represent donor-level means ± SD. Clonality = 1 − (Shannon entropy / log2(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n_unique_clones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));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range 0 (all singletons) to 1 (single dominant clone).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Singleton% = percentage of clones represented by a single cell.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Class-switched% = IgG% + IgA%.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TopCloneSize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number of cells in the largest clone.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BCR data represent heavy chain (IGH) only; TCR data represent alpha chain (TRA) only.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 group had no BCR/TCR V(D)J library data available.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 data (n=1 for liver; n=1 for blood in BCR; n=1 each in TCR) are shown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reference but excluded from statistical testing due to insufficient sample size.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★p&lt;0.05; †p&lt;0.10; Mann-Whitney U test, two-sided.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Abbreviations: NL, normal liver; IT, immune tolerant; IA, immune active;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AR, acute resolved; CR, chronic resolved.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1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60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65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76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61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Genes showing significant (p&lt;0.05) or trend-level (p&lt;0.10) differences between IA and AR in direct comparison, with NL→IT, NL→IA, and NL→AR trajectories shown for each gene-lineage-tissue combination to provide IT-phase context. Each comparison reports percent change, p-value (Mann-Whitney U, two-sided, donor-level means), and significance (*p&lt;0.05, (t) p&lt;0.10). Pattern classification based on disease trajectory: IT-inherited (NL→IT trending or significant AND NL→IA significant, NL→AR non-significant — suppressive programs initiated in IT and amplified through IA), IA-emergent (NL→IT non-significant, NL→IA significant, NL→AR non-significant — dysregulation newly acquired at IA), AR-advantage (NL→AR significant with higher expression in AR — effective function unique to acute resolution), IT-specific (NL→IT significant, NL→IA non-significant), Complex (does not fit above categories). 15 gene-lineage-tissue combinations from 24 tested genes across 4 lineages (Myeloid, CD4+ T, CD8+ T, NK, B, </a:t>
            </a:r>
            <a:r>
              <a:rPr lang="en-US" dirty="0" err="1"/>
              <a:t>PlasmaB</a:t>
            </a:r>
            <a:r>
              <a:rPr lang="en-US" dirty="0"/>
              <a:t>) and 2 tissues (Liver, Blood).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71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Donor-level Mann-Whitney U tests for 30 genes across 6 lineages (Myeloid, CD4+ T, CD8+ T, NK, B, </a:t>
            </a:r>
            <a:r>
              <a:rPr lang="en-US" dirty="0" err="1"/>
              <a:t>PlasmaB</a:t>
            </a:r>
            <a:r>
              <a:rPr lang="en-US" dirty="0"/>
              <a:t>) in both liver and blood. Three comparisons shown for each gene-lineage-tissue combination: NL→IT (IT-phase context), NL→IA (IA-phase context), and NL→CR (CR-phase status), enabling trajectory classification. Only combinations with at least one significant comparison (p&lt;0.05) among IT, IA, or CR are included (116 of 360 tested).</a:t>
            </a:r>
          </a:p>
          <a:p>
            <a:pPr>
              <a:buNone/>
            </a:pPr>
            <a:r>
              <a:rPr lang="en-US" b="1" dirty="0"/>
              <a:t>Pattern definitions: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IT-persistent</a:t>
            </a:r>
            <a:r>
              <a:rPr lang="en-US" dirty="0"/>
              <a:t> (n=33): NL→IT significant AND NL→CR significant in the same direction — changes originating in IT that persist beyond clinical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Resolved at CR</a:t>
            </a:r>
            <a:r>
              <a:rPr lang="en-US" dirty="0"/>
              <a:t> (n=29): NL→IT significant, NL→CR non-significant — IT-phase changes no longer present after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CR-unique</a:t>
            </a:r>
            <a:r>
              <a:rPr lang="en-US" dirty="0"/>
              <a:t> (n=27): NL→IT NS, NL→IA NS, NL→CR significant — novel alterations specific to the resolved state, absent during active disease phases.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IA-persistent</a:t>
            </a:r>
            <a:r>
              <a:rPr lang="en-US" dirty="0"/>
              <a:t> (n=13): NL→IT NS, NL→IA significant, NL→CR significant — changes first appearing at IA and persisting to CR.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Other</a:t>
            </a:r>
            <a:r>
              <a:rPr lang="en-US" dirty="0"/>
              <a:t> (n=14): Combinations not fitting the above categories.</a:t>
            </a:r>
          </a:p>
          <a:p>
            <a:pPr>
              <a:buNone/>
            </a:pPr>
            <a:r>
              <a:rPr lang="en-US" dirty="0"/>
              <a:t>Genes tested: MEFV, COL1A1, FN1, NLRP3, DNMT3A, GNLY, TGFB1, LGALS9, DNMT1, TET2, MTOR, LDHA, SOCS1, SOCS3, TOX, LAYN, PRDM1, RORC, JAK1, AIM2, FOXP3, TIGIT, BCL6, GZMB, GZMK, PRF1, TYROBP, FCER1G, BAK1, HLA-DPB1. Statistical test: Mann-Whitney U, two-sided, donor-level means. *p&lt;0.05, (t) p&lt;0.10.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53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Table S6. Complete Donor-Level BCR/TCR Metrics.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 donor values for all BCR (Sheet 1) and TCR (Sheet 2) repertoire metrics,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B/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PlasmaB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subcluster proportions (Sheet 3), separated by tissue (liver, blood)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disease group. These data underlie Table 8 and Figures 8, S8.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Clonality calculated using safe Shannon entropy (log2(0) protected).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n_unique_clones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number of distinct clonotypes per donor per tissue.</a:t>
            </a:r>
            <a:endParaRPr lang="en-US" b="0" dirty="0">
              <a:effectLst/>
            </a:endParaRP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35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Table S7. IT→IA Transition BCR/TCR Analysis.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Mann-Whitney U test results for 52 comparisons across BCR repertoire (22 tests),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TCR repertoire (10 tests), and B/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PlasmaB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subcluster proportions (20 tests),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tested in liver and blood separately. For each metric, three comparisons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shown: NL→IT, IT→IA, and NL→IA. Pattern classification: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IT-REVERSAL (NL→IT and IT→IA significant, opposite directions),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IT-AMPLIFIED (same directions), IT-SPECIFIC-RESOLVED (NL→IT sig, NL→IA NS),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IA-EMERGENT (NL→IT NS, IT→IA and NL→IA sig), TRANSITION (IT→IA sig only),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CHRONIC-PERSISTENT (NL→IT and NL→IA sig), NS (none significant).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★p&lt;0.05; †p&lt;0.10; Mann-Whitney U test, two-sided.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E2D08-2437-430E-BBC9-ADA4B1046E8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03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8A21-80C9-29A3-B832-95DC78A03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D1258-C2AE-1DF2-390E-63940C2CE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F18DF-1B94-D469-2D26-A3106AC3D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5910D-A3AC-BCD9-1543-023483104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FE293-075E-3F30-E8EE-14978032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0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8654-0573-6316-AED8-9BF0161E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8711D-71AF-EB01-7AA9-93A753FCF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5BE5C-AEB9-F702-DB9F-4550A513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31ABF-1BBB-26F2-DD83-5AC2B404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4DC2-A9C0-8ADE-3FFB-F8781E7BB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73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296D-C434-2698-79A0-7A7F6329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CE160-CA51-AC84-BF6D-FEA6EB282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B925F-5DA1-AC11-6891-83A4484F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6F6F2-B3E4-6825-B197-7847AD91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8B64E-D54A-1945-A98F-CE3DD24A4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99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D1EA5-304A-E407-1CF6-ECD7BF1C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73B46-C072-865B-5292-EBE1D296F5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FDE06-06E6-D074-1063-65D622BD8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763AA-16CE-9A6A-48AD-0945BB92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9E600-253A-2849-CF6F-D61490B6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EEDD7-7200-1720-F538-D3B7697A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79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594C-9B3D-8BBD-9419-CB5F57F6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172A6-7638-ACCC-7F98-E2CF9EAA7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E6FB9-385F-C6CF-58D5-E3C5826A9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886A5-0F95-322A-2063-E577DDBDC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D278C-7633-38F3-F371-1231A87F4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8E9B7E-B2D4-F305-2A9B-591B279FF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4BB9DA-3517-ACED-5AEC-284D351B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B0E170-032B-5D87-7EFD-C87D1F28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28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2342-A7AB-20EB-FE82-C030B44A4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E6CA09-AA04-9CFC-7A15-62AE2B98C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F0252-3C8E-A6D6-5956-9C7EB143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04153-AADE-ED84-3449-D0146950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9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AFBB8-56DB-EB03-750B-E62E56AE9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041F38-D664-6521-1601-0833A573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E4DAC-99BE-0D00-C10E-C7E8D985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1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74312-4A65-4025-21A3-DA6FBCC5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9DCAD-7001-15BB-0930-1F410967C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95DE1-4E6D-79B4-79BA-042CA1DD1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29C19-AE24-7CF1-980B-2D606E66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4C703-858D-C9DA-9A28-013DE9AAF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5C9D6-C48C-D46C-6887-5C0AEF9B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9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A48F3-6C1B-01D2-D5E4-564AE88C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E6304B-E07A-A1DC-4857-6934A62892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0B924-7A9C-6BDD-0756-D8497B365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658B1-8BBF-2DF0-7F05-E2F596E5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1E5BB-B4DB-9BB8-5941-00133B93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F8AF7-C603-D7E8-3E2D-F61233673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47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1C24-E1CF-5080-8BBA-322AC4D5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779A7-A935-43A5-52C2-78B403400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FBF83-AD30-7767-6ED6-4972D3427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328BA-A121-C029-598D-B7867F7A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040C-255A-E9EF-4C1E-E158B578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7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D4DEB1-6C61-2C06-5FC3-8F82AE7CB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DA2F3-C1F9-5016-C214-EBDD089BC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77759-7AA7-1FC4-325F-AA5AC5F57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72699-E1F2-4C6E-B360-A98E783D68D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C1311-410A-09DA-9E7D-8B4A5556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5D023-0A09-0BC3-9A44-DD68C5EE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8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16845-62DE-F7F4-7B4D-053E5E1B5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3F40D-7DAE-F8BE-864C-021FFE398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483E8-4145-79DC-457E-87605C7B4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72699-E1F2-4C6E-B360-A98E783D68DC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C9666-5A60-8854-F5EE-1331527BD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D068B-37C5-9A76-E256-7D9A5DD41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7477B-FC5B-4DFA-AF3B-0F3846193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3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9744E2-D6BE-1594-3917-81E189FD092B}"/>
              </a:ext>
            </a:extLst>
          </p:cNvPr>
          <p:cNvSpPr txBox="1"/>
          <p:nvPr/>
        </p:nvSpPr>
        <p:spPr>
          <a:xfrm>
            <a:off x="1048265" y="1494240"/>
            <a:ext cx="1030759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017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/>
              <a:t>Lineage	Tissue	NL	IT	IA	AR	CR	Key Sig Changes</a:t>
            </a:r>
          </a:p>
          <a:p>
            <a:pPr defTabSz="9017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/>
              <a:t>Myeloid	Liver	1.7%	6.0%	10.0%	1.8%	2.5%	NL→IT ★p=0.026</a:t>
            </a:r>
          </a:p>
          <a:p>
            <a:pPr defTabSz="9017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/>
              <a:t>Myeloid	Blood	35.1%	18.5%	14.3%	12.4%	17.7%	—</a:t>
            </a:r>
          </a:p>
          <a:p>
            <a:pPr defTabSz="9017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/>
              <a:t>CD4+ T	Liver	17.7%	23.1%	23.1%	22.5%	26.1%	—</a:t>
            </a:r>
          </a:p>
          <a:p>
            <a:pPr defTabSz="9017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/>
              <a:t>CD4+ T	Blood	17.6%	30.0%	33.9%	34.9%	36.4%	NL→CR ★p=0.036</a:t>
            </a:r>
          </a:p>
          <a:p>
            <a:pPr defTabSz="9017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/>
              <a:t>CD8+ T	Liver	31.8%	34.4%	41.1%	55.1%	40.6%	NL→AR ★p=0.024</a:t>
            </a:r>
          </a:p>
          <a:p>
            <a:pPr defTabSz="9017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/>
              <a:t>CD8+ T	Blood	12.0%	13.1%	24.1%	21.4%	15.3%	—</a:t>
            </a:r>
          </a:p>
          <a:p>
            <a:pPr defTabSz="9017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/>
              <a:t>NK	Liver	43.9%	33.7%	19.2%	18.7%	25.4%	NL→IA ★p=0.017, NL→AR ★p=0.024</a:t>
            </a:r>
          </a:p>
          <a:p>
            <a:pPr defTabSz="9017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/>
              <a:t>NK	Blood	27.7%	25.9%	15.7%	22.4%	7.8%	NL→CR ★p=0.036</a:t>
            </a:r>
          </a:p>
          <a:p>
            <a:pPr defTabSz="9017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/>
              <a:t>B	Liver	2.5%	2.5%	6.1%	1.5%	4.5%	—</a:t>
            </a:r>
          </a:p>
          <a:p>
            <a:pPr defTabSz="9017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/>
              <a:t>B	Blood	6.8%	12.0%	11.1%	8.1%	21.9%	NL→CR ★p=0.036</a:t>
            </a:r>
          </a:p>
          <a:p>
            <a:pPr defTabSz="9017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 err="1"/>
              <a:t>PlasmaB</a:t>
            </a:r>
            <a:r>
              <a:rPr lang="en-US" sz="1600" dirty="0"/>
              <a:t>	Liver	2.5%	0.9%	0.7%	0.4%	0.9%	—</a:t>
            </a:r>
          </a:p>
          <a:p>
            <a:pPr defTabSz="1079500">
              <a:tabLst>
                <a:tab pos="1079500" algn="l"/>
                <a:tab pos="1968500" algn="l"/>
                <a:tab pos="2870200" algn="l"/>
                <a:tab pos="3683000" algn="l"/>
                <a:tab pos="4483100" algn="l"/>
                <a:tab pos="5295900" algn="l"/>
                <a:tab pos="6096000" algn="l"/>
              </a:tabLst>
            </a:pPr>
            <a:r>
              <a:rPr lang="en-US" sz="1600" dirty="0" err="1"/>
              <a:t>PlasmaB</a:t>
            </a:r>
            <a:r>
              <a:rPr lang="en-US" sz="1600" dirty="0"/>
              <a:t>	Blood	0.9%	0.7%	0.9%	0.8%	0.8%	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6A36E5-950B-653C-215B-1777EC9C90EE}"/>
              </a:ext>
            </a:extLst>
          </p:cNvPr>
          <p:cNvSpPr txBox="1"/>
          <p:nvPr/>
        </p:nvSpPr>
        <p:spPr>
          <a:xfrm>
            <a:off x="1048265" y="782246"/>
            <a:ext cx="9936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 1. Immune Cell Proportions Across Disease Groups in Liver and Blood	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A393A3-0CF6-11B7-1539-06B7FB6C7B80}"/>
              </a:ext>
            </a:extLst>
          </p:cNvPr>
          <p:cNvSpPr txBox="1"/>
          <p:nvPr/>
        </p:nvSpPr>
        <p:spPr>
          <a:xfrm>
            <a:off x="1048265" y="5130111"/>
            <a:ext cx="103075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Key Sig Changes = key significant changes;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Donor-level means (%). Mann-Whitney U tests (two-sided) vs NL; ★p&lt;0.05. Liver: NL n=6, IT n=6, IA n=5, AR n=3, CR n=3. Blood: NL n=5, IT n=5, IA n=4, AR n=3, CR n=3. The chronic HBV disease stages (IT→IA→CR) represent sequential phases of vertical infection. AR is an independent comparator of adult-onset acute self-limited hepatitis B.</a:t>
            </a:r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4385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F31AB5-8FA5-AA43-7732-CAE4D4290BD5}"/>
              </a:ext>
            </a:extLst>
          </p:cNvPr>
          <p:cNvSpPr txBox="1"/>
          <p:nvPr/>
        </p:nvSpPr>
        <p:spPr>
          <a:xfrm>
            <a:off x="654907" y="1713633"/>
            <a:ext cx="879389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01700">
              <a:tabLst>
                <a:tab pos="1879600" algn="l"/>
                <a:tab pos="2870200" algn="l"/>
                <a:tab pos="4038600" algn="l"/>
                <a:tab pos="4838700" algn="l"/>
                <a:tab pos="6096000" algn="l"/>
                <a:tab pos="7086600" algn="l"/>
              </a:tabLst>
            </a:pPr>
            <a:r>
              <a:rPr lang="en-US" sz="1400" dirty="0"/>
              <a:t>Pathway	Lineage	Liver Change	Liver p	Blood Change	Blood p	Pattern</a:t>
            </a:r>
          </a:p>
          <a:p>
            <a:pPr>
              <a:tabLst>
                <a:tab pos="1879600" algn="l"/>
                <a:tab pos="2870200" algn="l"/>
                <a:tab pos="4038600" algn="l"/>
                <a:tab pos="4838700" algn="l"/>
                <a:tab pos="6096000" algn="l"/>
                <a:tab pos="7086600" algn="l"/>
              </a:tabLst>
            </a:pPr>
            <a:r>
              <a:rPr lang="en-US" sz="1400" dirty="0" err="1"/>
              <a:t>antigen_presentation</a:t>
            </a:r>
            <a:r>
              <a:rPr lang="en-US" sz="1400" dirty="0"/>
              <a:t>	CD4_T	★+30.6%	0.0152	-15.1%	0.4206	Liver↑/Blood↓</a:t>
            </a:r>
          </a:p>
          <a:p>
            <a:pPr>
              <a:tabLst>
                <a:tab pos="1879600" algn="l"/>
                <a:tab pos="2870200" algn="l"/>
                <a:tab pos="4038600" algn="l"/>
                <a:tab pos="4838700" algn="l"/>
                <a:tab pos="6096000" algn="l"/>
                <a:tab pos="7086600" algn="l"/>
              </a:tabLst>
            </a:pPr>
            <a:r>
              <a:rPr lang="en-US" sz="1400" dirty="0" err="1"/>
              <a:t>cell_cycle</a:t>
            </a:r>
            <a:r>
              <a:rPr lang="en-US" sz="1400" dirty="0"/>
              <a:t>	Myeloid	★+29.9%	0.0303	†-31.1%	0.0635	Liver↑/Blood↓</a:t>
            </a:r>
          </a:p>
          <a:p>
            <a:pPr>
              <a:tabLst>
                <a:tab pos="1879600" algn="l"/>
                <a:tab pos="2870200" algn="l"/>
                <a:tab pos="4038600" algn="l"/>
                <a:tab pos="4838700" algn="l"/>
                <a:tab pos="6096000" algn="l"/>
                <a:tab pos="7086600" algn="l"/>
              </a:tabLst>
            </a:pPr>
            <a:r>
              <a:rPr lang="en-US" sz="1400" dirty="0"/>
              <a:t>checkpoint	CD8_T	★+42.2%	0.0411	★-51.5%	0.0317	Liver↑/Blood↓</a:t>
            </a:r>
          </a:p>
          <a:p>
            <a:pPr>
              <a:tabLst>
                <a:tab pos="1879600" algn="l"/>
                <a:tab pos="2870200" algn="l"/>
                <a:tab pos="4038600" algn="l"/>
                <a:tab pos="4838700" algn="l"/>
                <a:tab pos="6096000" algn="l"/>
                <a:tab pos="7086600" algn="l"/>
              </a:tabLst>
            </a:pPr>
            <a:r>
              <a:rPr lang="en-US" sz="1400" dirty="0"/>
              <a:t>exhaustion	CD8_T	★+40.3%	0.0411	†-49.5%	0.0556	Liver↑/Blood↓</a:t>
            </a:r>
          </a:p>
          <a:p>
            <a:pPr>
              <a:tabLst>
                <a:tab pos="1879600" algn="l"/>
                <a:tab pos="2870200" algn="l"/>
                <a:tab pos="4038600" algn="l"/>
                <a:tab pos="4838700" algn="l"/>
                <a:tab pos="6096000" algn="l"/>
                <a:tab pos="7086600" algn="l"/>
              </a:tabLst>
            </a:pPr>
            <a:r>
              <a:rPr lang="en-US" sz="1400" dirty="0"/>
              <a:t>senescence	Myeloid	†+21.2%	0.0547	★-29.4%	0.0159	Liver↑/Blood↓</a:t>
            </a:r>
          </a:p>
          <a:p>
            <a:pPr>
              <a:tabLst>
                <a:tab pos="1879600" algn="l"/>
                <a:tab pos="2870200" algn="l"/>
                <a:tab pos="4038600" algn="l"/>
                <a:tab pos="4838700" algn="l"/>
                <a:tab pos="6096000" algn="l"/>
                <a:tab pos="7086600" algn="l"/>
              </a:tabLst>
            </a:pPr>
            <a:r>
              <a:rPr lang="en-US" sz="1400" dirty="0"/>
              <a:t>checkpoint	NK	+11.6%	0.329	★-31.7%	0.0159	Liver↑/Blood↓</a:t>
            </a:r>
          </a:p>
          <a:p>
            <a:pPr>
              <a:tabLst>
                <a:tab pos="1879600" algn="l"/>
                <a:tab pos="2870200" algn="l"/>
                <a:tab pos="4038600" algn="l"/>
                <a:tab pos="4838700" algn="l"/>
                <a:tab pos="6096000" algn="l"/>
                <a:tab pos="7086600" algn="l"/>
              </a:tabLst>
            </a:pPr>
            <a:r>
              <a:rPr lang="en-US" sz="1400" dirty="0"/>
              <a:t>exhaustion	NK	+12.9%	0.329	★-31.2%	0.0159	Liver↑/Blood↓</a:t>
            </a:r>
          </a:p>
          <a:p>
            <a:pPr>
              <a:tabLst>
                <a:tab pos="1879600" algn="l"/>
                <a:tab pos="2870200" algn="l"/>
                <a:tab pos="4038600" algn="l"/>
                <a:tab pos="4838700" algn="l"/>
                <a:tab pos="6096000" algn="l"/>
                <a:tab pos="7086600" algn="l"/>
              </a:tabLst>
            </a:pPr>
            <a:r>
              <a:rPr lang="en-US" sz="1400" dirty="0"/>
              <a:t>senescence	NK	+10.7%	0.4286	★-33.6%	0.0159	Liver↑/Blood↓</a:t>
            </a:r>
          </a:p>
          <a:p>
            <a:pPr>
              <a:tabLst>
                <a:tab pos="1879600" algn="l"/>
                <a:tab pos="2870200" algn="l"/>
                <a:tab pos="4038600" algn="l"/>
                <a:tab pos="4216400" algn="l"/>
                <a:tab pos="4838700" algn="l"/>
                <a:tab pos="4927600" algn="l"/>
                <a:tab pos="6096000" algn="l"/>
                <a:tab pos="7086600" algn="l"/>
              </a:tabLst>
            </a:pPr>
            <a:r>
              <a:rPr lang="en-US" sz="1400" dirty="0"/>
              <a:t>epigenetics	Myeloid	-5.9%	0.6623	★+36.7%	0.0159	Liver↓/Blood↑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6C802-0748-8614-4437-E90EBC7E6D4D}"/>
              </a:ext>
            </a:extLst>
          </p:cNvPr>
          <p:cNvSpPr txBox="1"/>
          <p:nvPr/>
        </p:nvSpPr>
        <p:spPr>
          <a:xfrm>
            <a:off x="654908" y="809535"/>
            <a:ext cx="879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 2. Tissue-Opposite Pathway Changes at NL→IT (Direction Discordant)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BECFB-8B19-1DED-3F19-F121DDDC0361}"/>
              </a:ext>
            </a:extLst>
          </p:cNvPr>
          <p:cNvSpPr txBox="1"/>
          <p:nvPr/>
        </p:nvSpPr>
        <p:spPr>
          <a:xfrm>
            <a:off x="654906" y="4451869"/>
            <a:ext cx="87938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AUCell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pathway scoring (29 gene sets) with donor-level Mann-Whitney U tests at NL→IT.; Only pathways with significant change (p&lt;0.05) in at least one tissue AND opposite direction in the other tissue are shown. ★p&lt;0.05, †p&lt;0.10; Positive values indicate upregulation in IT relative to NL.</a:t>
            </a:r>
            <a:r>
              <a:rPr lang="en-US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64231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69D541-1B88-3F67-176E-DBCBBF096873}"/>
              </a:ext>
            </a:extLst>
          </p:cNvPr>
          <p:cNvSpPr txBox="1"/>
          <p:nvPr/>
        </p:nvSpPr>
        <p:spPr>
          <a:xfrm>
            <a:off x="635000" y="1099035"/>
            <a:ext cx="102869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47738">
              <a:tabLst>
                <a:tab pos="901700" algn="l"/>
                <a:tab pos="1790700" algn="l"/>
                <a:tab pos="3492500" algn="l"/>
                <a:tab pos="5207000" algn="l"/>
                <a:tab pos="6362700" algn="l"/>
                <a:tab pos="7797800" algn="l"/>
                <a:tab pos="8877300" algn="l"/>
                <a:tab pos="9779000" algn="l"/>
              </a:tabLst>
            </a:pPr>
            <a:r>
              <a:rPr lang="en-US" sz="1400" dirty="0"/>
              <a:t>Gene	Lineage	Liver IT% (p)	Blood IT% (p)	IT-Specific?	Category	Direction	Consistency</a:t>
            </a:r>
          </a:p>
          <a:p>
            <a:pPr defTabSz="895350">
              <a:tabLst>
                <a:tab pos="901700" algn="l"/>
                <a:tab pos="1790700" algn="l"/>
                <a:tab pos="2603500" algn="l"/>
                <a:tab pos="3492500" algn="l"/>
                <a:tab pos="3594100" algn="l"/>
                <a:tab pos="5207000" algn="l"/>
                <a:tab pos="53848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DNMT1	Myeloid	+125.2% (p=0.002)	+163.8% (p=0.008)	Liver	Epigenetics	↑	36/36</a:t>
            </a:r>
          </a:p>
          <a:p>
            <a:pPr>
              <a:tabLst>
                <a:tab pos="901700" algn="l"/>
                <a:tab pos="1790700" algn="l"/>
                <a:tab pos="2603500" algn="l"/>
                <a:tab pos="34925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HLA-DPB1	Myeloid	+94.8% (p=0.002)	+210.0% (p=0.008)	—	Ag presentation	↑	36/36</a:t>
            </a:r>
          </a:p>
          <a:p>
            <a:pPr>
              <a:tabLst>
                <a:tab pos="901700" algn="l"/>
                <a:tab pos="1790700" algn="l"/>
                <a:tab pos="34925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BAK1	Myeloid	+379.5% (p=0.002)	+196.1% (p=0.008)	—	Apoptosis	↑	36/36</a:t>
            </a:r>
          </a:p>
          <a:p>
            <a:pPr>
              <a:tabLst>
                <a:tab pos="901700" algn="l"/>
                <a:tab pos="1790700" algn="l"/>
                <a:tab pos="34925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IRF4	Myeloid	+231.0% (p=0.015)	+1864.3% (p=0.010)	Liver	Transcription	↑	33/36</a:t>
            </a:r>
          </a:p>
          <a:p>
            <a:pPr>
              <a:tabLst>
                <a:tab pos="901700" algn="l"/>
                <a:tab pos="1790700" algn="l"/>
                <a:tab pos="34925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MTOR	Myeloid	+327.3% (p=0.034)	+520.5% (p=0.012)	Liver	Signaling	↑	30/36</a:t>
            </a:r>
          </a:p>
          <a:p>
            <a:pPr>
              <a:tabLst>
                <a:tab pos="901700" algn="l"/>
                <a:tab pos="1790700" algn="l"/>
                <a:tab pos="34925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JAK1	B	+73.1% (p=0.004)	+46.6% (p=0.008)	Blood	Signaling	↑	30/30</a:t>
            </a:r>
          </a:p>
          <a:p>
            <a:pPr>
              <a:tabLst>
                <a:tab pos="901700" algn="l"/>
                <a:tab pos="1790700" algn="l"/>
                <a:tab pos="34925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JAK1	</a:t>
            </a:r>
            <a:r>
              <a:rPr lang="en-US" sz="1400" dirty="0" err="1"/>
              <a:t>PlasmaB</a:t>
            </a:r>
            <a:r>
              <a:rPr lang="en-US" sz="1400" dirty="0"/>
              <a:t>	+76.1% (p=0.017)	+133.7% (p=0.016)	Blood	Signaling	↑	28/30</a:t>
            </a:r>
          </a:p>
          <a:p>
            <a:pPr>
              <a:tabLst>
                <a:tab pos="901700" algn="l"/>
                <a:tab pos="1790700" algn="l"/>
                <a:tab pos="34925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PRDM1	CD4_T	-36.4% (p=0.002)	-58.5% (p=0.008)	—	Differentiation	↓	36/36</a:t>
            </a:r>
          </a:p>
          <a:p>
            <a:pPr>
              <a:tabLst>
                <a:tab pos="901700" algn="l"/>
                <a:tab pos="1790700" algn="l"/>
                <a:tab pos="3492500" algn="l"/>
                <a:tab pos="51181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CD27	CD4_T	+93.5% (p=0.002)	NS		—	Memory	↑	36/36</a:t>
            </a:r>
          </a:p>
          <a:p>
            <a:pPr>
              <a:tabLst>
                <a:tab pos="901700" algn="l"/>
                <a:tab pos="1790700" algn="l"/>
                <a:tab pos="3492500" algn="l"/>
                <a:tab pos="50292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IL2RA	B	+533.2% (p=0.008)	NS		Liver	B activation	↑	30/30</a:t>
            </a:r>
          </a:p>
          <a:p>
            <a:pPr>
              <a:tabLst>
                <a:tab pos="901700" algn="l"/>
                <a:tab pos="1790700" algn="l"/>
                <a:tab pos="34925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TYROBP	</a:t>
            </a:r>
            <a:r>
              <a:rPr lang="en-US" sz="1400" dirty="0" err="1"/>
              <a:t>PlasmaB</a:t>
            </a:r>
            <a:r>
              <a:rPr lang="en-US" sz="1400" dirty="0"/>
              <a:t>	+237.6% (p=0.009)	+910.8% (p=0.008)	Liver	Cytotoxicity	↑	29/30</a:t>
            </a:r>
          </a:p>
          <a:p>
            <a:pPr>
              <a:tabLst>
                <a:tab pos="901700" algn="l"/>
                <a:tab pos="1790700" algn="l"/>
                <a:tab pos="34925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TOX	CD8_T	+86.6% (p=0.002)	NS	Liver	Exhaustion	↑	36/36</a:t>
            </a:r>
          </a:p>
          <a:p>
            <a:pPr>
              <a:tabLst>
                <a:tab pos="901700" algn="l"/>
                <a:tab pos="1790700" algn="l"/>
                <a:tab pos="34925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TOX	CD4_T	+100.7% (p=0.009)	NS	Liver	Exhaustion	↑	34/36</a:t>
            </a:r>
          </a:p>
          <a:p>
            <a:pPr defTabSz="901700">
              <a:tabLst>
                <a:tab pos="901700" algn="l"/>
                <a:tab pos="1790700" algn="l"/>
                <a:tab pos="34925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BCL6	CD8_T	+163.1% (p=0.004)	NS	Liver	Stemness	↑	35/36</a:t>
            </a:r>
          </a:p>
          <a:p>
            <a:pPr defTabSz="901700">
              <a:tabLst>
                <a:tab pos="901700" algn="l"/>
                <a:tab pos="1790700" algn="l"/>
                <a:tab pos="3492500" algn="l"/>
                <a:tab pos="5207000" algn="l"/>
                <a:tab pos="6362700" algn="l"/>
                <a:tab pos="7797800" algn="l"/>
                <a:tab pos="8877300" algn="l"/>
              </a:tabLst>
            </a:pPr>
            <a:r>
              <a:rPr lang="en-US" sz="1400" dirty="0"/>
              <a:t>TIGIT	CD8_T	+151.5% (p=0.004)	NS	Liver	Checkpoint	↑	35/36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217F8F-D648-FAA1-0948-26677F4C685B}"/>
              </a:ext>
            </a:extLst>
          </p:cNvPr>
          <p:cNvSpPr txBox="1"/>
          <p:nvPr/>
        </p:nvSpPr>
        <p:spPr>
          <a:xfrm>
            <a:off x="635000" y="211773"/>
            <a:ext cx="1094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Table 3. IT-Specific Individual Gene Markers (Top Candidates by Tissue)	</a:t>
            </a: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4CA3B-AD5F-5C33-7E56-876CE5F2B0F5}"/>
              </a:ext>
            </a:extLst>
          </p:cNvPr>
          <p:cNvSpPr txBox="1"/>
          <p:nvPr/>
        </p:nvSpPr>
        <p:spPr>
          <a:xfrm>
            <a:off x="546099" y="4879396"/>
            <a:ext cx="104648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 u="none" strike="noStrike" baseline="0" dirty="0">
                <a:solidFill>
                  <a:srgbClr val="333333"/>
                </a:solidFill>
                <a:latin typeface="Arial" panose="020B0604020202020204" pitchFamily="34" charset="0"/>
              </a:rPr>
              <a:t>148-gene panel (C5). Donor-level Mann-Whitney U tests. IT-specific: NL→IT p&lt;0.05, NL→IA p≥0.05.</a:t>
            </a:r>
          </a:p>
          <a:p>
            <a:r>
              <a:rPr lang="en-US" sz="1400" dirty="0"/>
              <a:t>C5 148-gene panel (C3-only genes noted where applicable). Donor-level Mann-Whitney U tests. Percent change computed from donor-level mean log-normalized expression values (log1p-transformed counts per 10,000) and does not represent raw count fold changes. IT-specific: NL→IT significant (p&lt;0.05) with NL→IA non-significant (p≥0.05). "NS" indicates p≥0.05 for that tissue. Consistency: number of donor pairs in which IT donor showed higher (or lower for ↓) expression than NL donor, out of total possible pairs.</a:t>
            </a:r>
            <a:r>
              <a:rPr lang="en-US" sz="1400" dirty="0">
                <a:effectLst/>
              </a:rPr>
              <a:t> </a:t>
            </a:r>
            <a:endParaRPr lang="en-US" sz="1400" dirty="0"/>
          </a:p>
          <a:p>
            <a:r>
              <a:rPr lang="en-US" sz="1400" b="0" i="1" u="none" strike="noStrike" baseline="0" dirty="0">
                <a:solidFill>
                  <a:srgbClr val="333333"/>
                </a:solidFill>
                <a:latin typeface="Arial" panose="020B0604020202020204" pitchFamily="34" charset="0"/>
              </a:rPr>
              <a:t>	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							</a:t>
            </a:r>
          </a:p>
        </p:txBody>
      </p:sp>
    </p:spTree>
    <p:extLst>
      <p:ext uri="{BB962C8B-B14F-4D97-AF65-F5344CB8AC3E}">
        <p14:creationId xmlns:p14="http://schemas.microsoft.com/office/powerpoint/2010/main" val="1427596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EBD9B-38DE-48C5-9923-18C95235F635}"/>
              </a:ext>
            </a:extLst>
          </p:cNvPr>
          <p:cNvSpPr txBox="1"/>
          <p:nvPr/>
        </p:nvSpPr>
        <p:spPr>
          <a:xfrm>
            <a:off x="863600" y="1077177"/>
            <a:ext cx="10058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3763">
              <a:tabLst>
                <a:tab pos="893763" algn="l"/>
                <a:tab pos="2057400" algn="l"/>
                <a:tab pos="3140075" algn="l"/>
                <a:tab pos="4303713" algn="l"/>
                <a:tab pos="5645150" algn="l"/>
              </a:tabLst>
            </a:pPr>
            <a:r>
              <a:rPr lang="en-US" dirty="0"/>
              <a:t>Rank	Gene	Sig Tests	Lineages	Tissues	Top Pathway</a:t>
            </a:r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1	JAK1	33	6	2	il15_mtor, nk_il15_dual</a:t>
            </a:r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2	TGFBR2	23	6	2	</a:t>
            </a:r>
            <a:r>
              <a:rPr lang="en-US" dirty="0" err="1"/>
              <a:t>tgfb_signaling</a:t>
            </a:r>
            <a:endParaRPr lang="en-US" dirty="0"/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3	MT-ND1	23	6	2	</a:t>
            </a:r>
            <a:r>
              <a:rPr lang="en-US" dirty="0" err="1"/>
              <a:t>mito_dysfunction</a:t>
            </a:r>
            <a:endParaRPr lang="en-US" dirty="0"/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4	TFAM	23	5	2	</a:t>
            </a:r>
            <a:r>
              <a:rPr lang="en-US" dirty="0" err="1"/>
              <a:t>metabolic_recovery</a:t>
            </a:r>
            <a:endParaRPr lang="en-US" dirty="0"/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5	MT-CYB	22	5	2	</a:t>
            </a:r>
            <a:r>
              <a:rPr lang="en-US" dirty="0" err="1"/>
              <a:t>mito_dysfunction</a:t>
            </a:r>
            <a:endParaRPr lang="en-US" dirty="0"/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6	RPTOR	21	6	2	il15_mtor</a:t>
            </a:r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7	MT-ND2	20	5	2	</a:t>
            </a:r>
            <a:r>
              <a:rPr lang="en-US" dirty="0" err="1"/>
              <a:t>mito_dysfunction</a:t>
            </a:r>
            <a:endParaRPr lang="en-US" dirty="0"/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8	DNMT3A	18	6	2	epigenetics</a:t>
            </a:r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9	MTOR	15	5	2	il15_mtor, nk_il15_dual</a:t>
            </a:r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10	SDHB	15	5	2	</a:t>
            </a:r>
            <a:r>
              <a:rPr lang="en-US" dirty="0" err="1"/>
              <a:t>oxphos</a:t>
            </a:r>
            <a:endParaRPr lang="en-US" dirty="0"/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11	CD44	15	4	1	</a:t>
            </a:r>
            <a:r>
              <a:rPr lang="en-US" dirty="0" err="1"/>
              <a:t>memory_t</a:t>
            </a:r>
            <a:endParaRPr lang="en-US" dirty="0"/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12	CD27	14	5	2	</a:t>
            </a:r>
            <a:r>
              <a:rPr lang="en-US" dirty="0" err="1"/>
              <a:t>memory_t</a:t>
            </a:r>
            <a:r>
              <a:rPr lang="en-US" dirty="0"/>
              <a:t> (literature)</a:t>
            </a:r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13	DNMT1	13	5	2	epigenetics</a:t>
            </a:r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14	ATM	13	6	2	</a:t>
            </a:r>
            <a:r>
              <a:rPr lang="en-US" dirty="0" err="1"/>
              <a:t>cancer_associated</a:t>
            </a:r>
            <a:r>
              <a:rPr lang="en-US" dirty="0"/>
              <a:t> (literature)</a:t>
            </a:r>
          </a:p>
          <a:p>
            <a:pPr>
              <a:tabLst>
                <a:tab pos="893763" algn="l"/>
                <a:tab pos="2157413" algn="l"/>
                <a:tab pos="3408363" algn="l"/>
                <a:tab pos="4572000" algn="l"/>
                <a:tab pos="5645150" algn="l"/>
              </a:tabLst>
            </a:pPr>
            <a:r>
              <a:rPr lang="en-US" dirty="0"/>
              <a:t>15	RB1	13	5	2	</a:t>
            </a:r>
            <a:r>
              <a:rPr lang="en-US" dirty="0" err="1"/>
              <a:t>cell_cycle</a:t>
            </a:r>
            <a:r>
              <a:rPr lang="en-US" dirty="0"/>
              <a:t>, senescence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0C2AD-C532-33A5-06C8-9BD142C66C9A}"/>
              </a:ext>
            </a:extLst>
          </p:cNvPr>
          <p:cNvSpPr txBox="1"/>
          <p:nvPr/>
        </p:nvSpPr>
        <p:spPr>
          <a:xfrm>
            <a:off x="863600" y="5811649"/>
            <a:ext cx="10058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Genes ranked by total number of significant tests (p&lt;0.05) across 2 tissues × 6 lineages × 7 comparisons </a:t>
            </a:r>
            <a:r>
              <a:rPr lang="en-US" sz="1400" dirty="0"/>
              <a:t>(maximum possible = 84 per gene)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C5 148-gene panel with donor-level Mann-Whitney U tests. Lineages and tissues count the number of distinct lineages and tissue compartments in which the gene reached significance.</a:t>
            </a:r>
            <a:r>
              <a:rPr lang="en-US" sz="1400" dirty="0">
                <a:effectLst/>
              </a:rPr>
              <a:t> 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CC2CAA-210E-8441-41DF-498AFE3D2027}"/>
              </a:ext>
            </a:extLst>
          </p:cNvPr>
          <p:cNvSpPr txBox="1"/>
          <p:nvPr/>
        </p:nvSpPr>
        <p:spPr>
          <a:xfrm>
            <a:off x="863600" y="307687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 4. Top 15 Hub Genes by Significance Frequency					</a:t>
            </a:r>
          </a:p>
        </p:txBody>
      </p:sp>
    </p:spTree>
    <p:extLst>
      <p:ext uri="{BB962C8B-B14F-4D97-AF65-F5344CB8AC3E}">
        <p14:creationId xmlns:p14="http://schemas.microsoft.com/office/powerpoint/2010/main" val="518645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8B76AD-3939-92C1-B1D8-9C9B73DB5BA7}"/>
              </a:ext>
            </a:extLst>
          </p:cNvPr>
          <p:cNvSpPr txBox="1"/>
          <p:nvPr/>
        </p:nvSpPr>
        <p:spPr>
          <a:xfrm>
            <a:off x="374650" y="1982044"/>
            <a:ext cx="114427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	Lineage	Tissue	CR Change	p-value	Normal Lineage	Note</a:t>
            </a:r>
          </a:p>
          <a:p>
            <a:r>
              <a:rPr lang="en-US" dirty="0"/>
              <a:t>MEFV	CD8_T	Liver	from zero (NL=0)	0.0091	Myeloid	Inflammasome in T cells</a:t>
            </a:r>
          </a:p>
          <a:p>
            <a:r>
              <a:rPr lang="en-US" dirty="0"/>
              <a:t>MEFV	B	Blood	from zero (NL=0)	0.0168	Myeloid	Inflammasome in B cells</a:t>
            </a:r>
          </a:p>
          <a:p>
            <a:r>
              <a:rPr lang="en-US" dirty="0"/>
              <a:t>MEFV	NK	Blood	from zero (NL=0)	0.0168	Myeloid	Inflammasome in NK</a:t>
            </a:r>
          </a:p>
          <a:p>
            <a:r>
              <a:rPr lang="en-US" dirty="0"/>
              <a:t>COL1A1	CD8_T	Blood	from zero (NL=0)	0.0168	Stromal	Collagen in T cells</a:t>
            </a:r>
          </a:p>
          <a:p>
            <a:r>
              <a:rPr lang="en-US" dirty="0"/>
              <a:t>FN1	CD4_T	Blood	from zero (NL=0)	0.0168	Stromal	Fibronectin in T cells</a:t>
            </a:r>
          </a:p>
          <a:p>
            <a:r>
              <a:rPr lang="en-US" dirty="0"/>
              <a:t>NLRP3	B	Blood	from zero (NL=0)	0.0168	Myeloid	NLRP3 in B cells</a:t>
            </a:r>
          </a:p>
          <a:p>
            <a:r>
              <a:rPr lang="en-US" dirty="0"/>
              <a:t>DNMT3A	Myeloid	Liver	+412.3%	0.0219	—	Persistent epigenetic</a:t>
            </a:r>
          </a:p>
          <a:p>
            <a:r>
              <a:rPr lang="en-US" dirty="0"/>
              <a:t>GNLY	</a:t>
            </a:r>
            <a:r>
              <a:rPr lang="en-US" dirty="0" err="1"/>
              <a:t>PlasmaB</a:t>
            </a:r>
            <a:r>
              <a:rPr lang="en-US" dirty="0"/>
              <a:t>	Liver	+2462.6%	0.0219	NK/CD8T	Cytotoxic </a:t>
            </a:r>
            <a:r>
              <a:rPr lang="en-US" dirty="0" err="1"/>
              <a:t>PlasmaB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71E2C-0237-D53A-7CB5-2AA23D10B97E}"/>
              </a:ext>
            </a:extLst>
          </p:cNvPr>
          <p:cNvSpPr txBox="1"/>
          <p:nvPr/>
        </p:nvSpPr>
        <p:spPr>
          <a:xfrm>
            <a:off x="374650" y="5151567"/>
            <a:ext cx="11442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CR-specific: NL→CR significant (p&lt;0.05) with NL→IA non-significant (p≥0.05). "From zero (NL=0)" indicates the gene had zero or near-zero mean expression at NL baseline and was newly expressed at CR, yielding mathematically undefined fold change. "Normal Lineage" indicates the cell type in which this gene is conventionally expressed; expression in the listed lineage is considered aberrant.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9267A7-AE74-8C54-AD01-C125DAD826C3}"/>
              </a:ext>
            </a:extLst>
          </p:cNvPr>
          <p:cNvSpPr txBox="1"/>
          <p:nvPr/>
        </p:nvSpPr>
        <p:spPr>
          <a:xfrm>
            <a:off x="222250" y="489616"/>
            <a:ext cx="95694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Table 5. CR Scar Genes: Aberrant Lineage Expression	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</a:p>
          <a:p>
            <a:r>
              <a:rPr lang="en-US" sz="1600" b="0" i="1" u="none" strike="noStrike" baseline="0" dirty="0">
                <a:solidFill>
                  <a:srgbClr val="333333"/>
                </a:solidFill>
                <a:latin typeface="Arial" panose="020B0604020202020204" pitchFamily="34" charset="0"/>
              </a:rPr>
              <a:t>CR-specific: NL→CR significant (p&lt;0.05) with NL→IA non-significant. Showing top examples.	</a:t>
            </a:r>
            <a:endParaRPr lang="en-US" sz="2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41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7E4172-AB2E-3F38-65F6-31D52A2060C5}"/>
              </a:ext>
            </a:extLst>
          </p:cNvPr>
          <p:cNvSpPr txBox="1"/>
          <p:nvPr/>
        </p:nvSpPr>
        <p:spPr>
          <a:xfrm>
            <a:off x="434560" y="475622"/>
            <a:ext cx="10147301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Layer	Mechanism	Gene	Lineage	Tissue	IT Change	p-value	Consistency	Tier	C10 Per-cell%</a:t>
            </a:r>
          </a:p>
          <a:p>
            <a:r>
              <a:rPr lang="en-US" sz="1000" dirty="0"/>
              <a:t>L1	Myeloid paracrine suppression	TGFB1	Myeloid	Blood	+155.6%	0.0079	25/25	2	93%</a:t>
            </a:r>
          </a:p>
          <a:p>
            <a:r>
              <a:rPr lang="en-US" sz="1000" dirty="0"/>
              <a:t>L1	Myeloid paracrine suppression	LGALS9	Myeloid	Blood	+93.7%	0.0159	24/25	2	89%</a:t>
            </a:r>
          </a:p>
          <a:p>
            <a:r>
              <a:rPr lang="en-US" sz="1000" dirty="0"/>
              <a:t>L1	Myeloid paracrine suppression	LILRB1	Myeloid	Blood	+101.8%	0.0317	23/25	2	91%</a:t>
            </a:r>
          </a:p>
          <a:p>
            <a:r>
              <a:rPr lang="en-US" sz="1000" dirty="0"/>
              <a:t>L1	Myeloid paracrine suppression	SIGLEC10	Myeloid	Blood	+137.7%	0.0317	23/25	2	88%</a:t>
            </a:r>
          </a:p>
          <a:p>
            <a:r>
              <a:rPr lang="en-US" sz="1000" dirty="0"/>
              <a:t>L1	Myeloid paracrine suppression	AIM2	Myeloid	Blood	+1431.2%	0.0112	25/25	2	95%</a:t>
            </a:r>
          </a:p>
          <a:p>
            <a:r>
              <a:rPr lang="en-US" sz="1000" dirty="0"/>
              <a:t>L1	Myeloid paracrine suppression	MEFV	Myeloid	Blood	+201.1%	0.0079	25/25	2	92%</a:t>
            </a:r>
          </a:p>
          <a:p>
            <a:r>
              <a:rPr lang="en-US" sz="1000" dirty="0"/>
              <a:t>L1	Myeloid paracrine suppression	PYCARD	Myeloid	Blood	+24.7%	0.0079	25/25	2	90%</a:t>
            </a:r>
          </a:p>
          <a:p>
            <a:r>
              <a:rPr lang="en-US" sz="1000" dirty="0"/>
              <a:t>L2	Epigenetic silencing	DNMT1	Myeloid	Blood	+163.8%	0.0079	25/25	2	96%</a:t>
            </a:r>
          </a:p>
          <a:p>
            <a:r>
              <a:rPr lang="en-US" sz="1000" dirty="0"/>
              <a:t>L2	Epigenetic silencing	DNMT3A	Myeloid	Blood	+348.3%	0.0119	25/25	2	94%</a:t>
            </a:r>
          </a:p>
          <a:p>
            <a:r>
              <a:rPr lang="en-US" sz="1000" dirty="0"/>
              <a:t>L2	Epigenetic silencing	TET2	Myeloid	Blood	+150.1%	0.0079	25/25	2	91%</a:t>
            </a:r>
          </a:p>
          <a:p>
            <a:r>
              <a:rPr lang="en-US" sz="1000" dirty="0"/>
              <a:t>L2	Epigenetic silencing	DNMT1	Myeloid	Liver	+125.2%	0.0022	36/36	2	95%</a:t>
            </a:r>
          </a:p>
          <a:p>
            <a:r>
              <a:rPr lang="en-US" sz="1000" dirty="0"/>
              <a:t>L3	Metabolic checkpoint	MTOR	Myeloid	Blood	+520.5%	0.0119	25/25	2	97%</a:t>
            </a:r>
          </a:p>
          <a:p>
            <a:r>
              <a:rPr lang="en-US" sz="1000" dirty="0"/>
              <a:t>L3	Metabolic checkpoint	MTOR	Myeloid	Liver	+327.3%	0.0341	30/36	2	88%</a:t>
            </a:r>
          </a:p>
          <a:p>
            <a:r>
              <a:rPr lang="en-US" sz="1000" dirty="0"/>
              <a:t>L3	Metabolic checkpoint	LDHA	Myeloid	Blood	-36.3%	0.0079	25/25	2	35%</a:t>
            </a:r>
          </a:p>
          <a:p>
            <a:r>
              <a:rPr lang="en-US" sz="1000" dirty="0"/>
              <a:t>L3	Metabolic checkpoint	TFAM	Myeloid	Blood	+171.2%	0.0079	25/25	2	94%</a:t>
            </a:r>
          </a:p>
          <a:p>
            <a:r>
              <a:rPr lang="en-US" sz="1000" dirty="0"/>
              <a:t>L3	Metabolic checkpoint	TFAM	CD4_T	Blood	+90.6%	0.0159	24/25	2	90%</a:t>
            </a:r>
          </a:p>
          <a:p>
            <a:r>
              <a:rPr lang="en-US" sz="1000" dirty="0"/>
              <a:t>L4	JAK-STAT paradox	JAK1	Myeloid	Blood	+128.3%	0.0079	25/25	2	96%</a:t>
            </a:r>
          </a:p>
          <a:p>
            <a:r>
              <a:rPr lang="en-US" sz="1000" dirty="0"/>
              <a:t>L4	JAK-STAT paradox	STAT1	Myeloid	Blood	+200.4%	0.0159	24/25	2	97%</a:t>
            </a:r>
          </a:p>
          <a:p>
            <a:r>
              <a:rPr lang="en-US" sz="1000" dirty="0"/>
              <a:t>L4	JAK-STAT paradox	SOCS1	CD4_T	Blood	-67.0%	0.0079	25/25	2	87%</a:t>
            </a:r>
          </a:p>
          <a:p>
            <a:r>
              <a:rPr lang="en-US" sz="1000" dirty="0"/>
              <a:t>L4	JAK-STAT paradox	SOCS1	CD8_T	Blood	-64.0%	0.0079	25/25	2	85%</a:t>
            </a:r>
          </a:p>
          <a:p>
            <a:r>
              <a:rPr lang="en-US" sz="1000" dirty="0"/>
              <a:t>L4	JAK-STAT paradox	SOCS3	CD4_T	Blood	-76.9%	0.0079	25/25	2	82%</a:t>
            </a:r>
          </a:p>
          <a:p>
            <a:r>
              <a:rPr lang="en-US" sz="1000" dirty="0"/>
              <a:t>L5	Liver T cell exhaustion	TOX	CD4_T	Liver	+100.7%	0.0087	34/36	2	78%</a:t>
            </a:r>
          </a:p>
          <a:p>
            <a:r>
              <a:rPr lang="en-US" sz="1000" dirty="0"/>
              <a:t>L5	Liver T cell exhaustion	TOX	CD8_T	Liver	+86.6%	0.0022	36/36	2	81%</a:t>
            </a:r>
          </a:p>
          <a:p>
            <a:r>
              <a:rPr lang="en-US" sz="1000" dirty="0"/>
              <a:t>L5	Liver T cell exhaustion	TOX2	CD4_T	Liver	+242.1%	0.0087	34/36	2	73%</a:t>
            </a:r>
          </a:p>
          <a:p>
            <a:r>
              <a:rPr lang="en-US" sz="1000" dirty="0"/>
              <a:t>L5	Liver T cell exhaustion	LAYN	CD4_T	Liver	+430.5%	0.0087	34/36	2	76%</a:t>
            </a:r>
          </a:p>
          <a:p>
            <a:r>
              <a:rPr lang="en-US" sz="1000" dirty="0"/>
              <a:t>L5	Liver T cell exhaustion	CTLA4	CD4_T	Liver	+171.1%	0.0043	35/36	2	79%</a:t>
            </a:r>
          </a:p>
          <a:p>
            <a:r>
              <a:rPr lang="en-US" sz="1000" dirty="0"/>
              <a:t>L5	Liver T cell exhaustion	TIGIT	CD4_T	Liver	+123.8%	0.0152	33/36	2	77%</a:t>
            </a:r>
          </a:p>
          <a:p>
            <a:r>
              <a:rPr lang="en-US" sz="1000" dirty="0"/>
              <a:t>L5	Liver T cell exhaustion	TIGIT	CD8_T	Liver	+151.5%	0.0043	35/36	2	80%</a:t>
            </a:r>
          </a:p>
          <a:p>
            <a:r>
              <a:rPr lang="en-US" sz="1000" dirty="0"/>
              <a:t>L6	Terminal differentiation block	PRDM1	CD4_T	Liver	-36.4%	0.0022	36/36	2	98%</a:t>
            </a:r>
          </a:p>
          <a:p>
            <a:r>
              <a:rPr lang="en-US" sz="1000" dirty="0"/>
              <a:t>L6	Terminal differentiation block	PRDM1	CD4_T	Blood	-58.5%	0.0079	25/25	2	95%</a:t>
            </a:r>
          </a:p>
          <a:p>
            <a:r>
              <a:rPr lang="en-US" sz="1000" dirty="0"/>
              <a:t>L6	Terminal differentiation block	PRDM1	CD8_T	Blood	-57.9%	0.0079	25/25	2	93%</a:t>
            </a:r>
          </a:p>
          <a:p>
            <a:r>
              <a:rPr lang="en-US" sz="1000" dirty="0"/>
              <a:t>L6	Terminal differentiation block	RORC	CD4_T	Liver	-49.4%	0.026	32/36	2	84%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B1902-204E-2032-62BE-42CFEED3EF3D}"/>
              </a:ext>
            </a:extLst>
          </p:cNvPr>
          <p:cNvSpPr txBox="1"/>
          <p:nvPr/>
        </p:nvSpPr>
        <p:spPr>
          <a:xfrm>
            <a:off x="350837" y="106290"/>
            <a:ext cx="11490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Table 6. Six-Layer Effector Suppression Architecture in IT Phase</a:t>
            </a:r>
            <a:endParaRPr lang="en-US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345F9-1F10-0C2B-F864-C17BE268C6B5}"/>
              </a:ext>
            </a:extLst>
          </p:cNvPr>
          <p:cNvSpPr txBox="1"/>
          <p:nvPr/>
        </p:nvSpPr>
        <p:spPr>
          <a:xfrm>
            <a:off x="225838" y="5812991"/>
            <a:ext cx="1085850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100" i="1" dirty="0">
                <a:solidFill>
                  <a:srgbClr val="333333"/>
                </a:solidFill>
                <a:latin typeface="Arial" panose="020B0604020202020204" pitchFamily="34" charset="0"/>
              </a:rPr>
              <a:t>All genes donor-level tested (Mann-Whitney U). C10 per-cell validation from existing Oaxaca-Blinder decomposition.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genes tested with donor-level Mann-Whitney U tests (two-sided). Tier 2: nominal p&lt;0.05 with effect size and donor-pair consistency (no individual gene or pathway results survived FDR correction at donor-level sample sizes of n=5 vs n=5; see Methods 4.2). C10 Per-cell%: percentage of lineage-level expression change attributable to genuine per-cell changes (vs subcluster composition shifts) by Oaxaca-Blinder decomposition. LDHA (35%, italic) indicates mixed attribution with substantial composition contribution. SOCS1/SOCS3 are C3-only genes (not in C5 148-gene panel); analyzed in C9B with stratified FDR.</a:t>
            </a:r>
            <a:r>
              <a:rPr lang="en-US" sz="1100" dirty="0">
                <a:effectLst/>
              </a:rPr>
              <a:t>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38474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8850E6-D056-FDC2-8324-0A397C25AC11}"/>
              </a:ext>
            </a:extLst>
          </p:cNvPr>
          <p:cNvSpPr txBox="1"/>
          <p:nvPr/>
        </p:nvSpPr>
        <p:spPr>
          <a:xfrm>
            <a:off x="1103243" y="1882339"/>
            <a:ext cx="9790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Comparison	Significant	Per-cell dominant	Composition dominant	% Per-cell</a:t>
            </a:r>
          </a:p>
          <a:p>
            <a:r>
              <a:rPr lang="en-US" dirty="0"/>
              <a:t>NL→IT	284	283	1	99.6%</a:t>
            </a:r>
          </a:p>
          <a:p>
            <a:r>
              <a:rPr lang="en-US" dirty="0"/>
              <a:t>NL→IA	233	221	12	94.8%</a:t>
            </a:r>
          </a:p>
          <a:p>
            <a:r>
              <a:rPr lang="en-US" dirty="0"/>
              <a:t>IT→IA	41	38	3	92.7%</a:t>
            </a:r>
          </a:p>
          <a:p>
            <a:r>
              <a:rPr lang="en-US" dirty="0"/>
              <a:t>NL→CR	352	333	19	94.6%</a:t>
            </a:r>
          </a:p>
          <a:p>
            <a:r>
              <a:rPr lang="en-US" dirty="0"/>
              <a:t>NL→AR	240	224	16	93.3%</a:t>
            </a:r>
          </a:p>
          <a:p>
            <a:r>
              <a:rPr lang="en-US" dirty="0"/>
              <a:t>IA→AR	36	32	4	88.9%</a:t>
            </a:r>
          </a:p>
          <a:p>
            <a:r>
              <a:rPr lang="en-US" dirty="0"/>
              <a:t>Total	1186	1131	55	95.4%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92E55-96AA-9038-646E-9955558B729B}"/>
              </a:ext>
            </a:extLst>
          </p:cNvPr>
          <p:cNvSpPr txBox="1"/>
          <p:nvPr/>
        </p:nvSpPr>
        <p:spPr>
          <a:xfrm>
            <a:off x="792646" y="523320"/>
            <a:ext cx="1084607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Table 7. Oaxaca-Blinder Decomposition Summary Across All Comparisons (C10)</a:t>
            </a:r>
            <a:endParaRPr lang="en-US" sz="2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400" b="0" i="1" u="none" strike="noStrike" baseline="0" dirty="0">
                <a:solidFill>
                  <a:srgbClr val="333333"/>
                </a:solidFill>
                <a:latin typeface="Arial" panose="020B0604020202020204" pitchFamily="34" charset="0"/>
              </a:rPr>
              <a:t>Per-cell dominant: &gt;50% of expression change from within-subcluster changes. 196 genes × 6 lineages × 2 tissues.	</a:t>
            </a:r>
            <a:endParaRPr lang="en-US" sz="2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5586E-B3D7-11C4-CBD4-F2696856FF3D}"/>
              </a:ext>
            </a:extLst>
          </p:cNvPr>
          <p:cNvSpPr txBox="1"/>
          <p:nvPr/>
        </p:nvSpPr>
        <p:spPr>
          <a:xfrm>
            <a:off x="862220" y="5791345"/>
            <a:ext cx="10229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Oaxaca-Blinder decomposition applied to 196 genes × 6 lineages × 2 tissues for each pairwise comparison. Per-cell dominant: &gt;50% of expression change attributable to within-subcluster per-cell changes. Composition dominant: &gt;50% attributable to subcluster proportion shifts.</a:t>
            </a:r>
            <a:r>
              <a:rPr lang="en-US" sz="1200" dirty="0">
                <a:effectLst/>
              </a:rPr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2800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757D95-20A7-4039-4941-001CC58CF5A1}"/>
              </a:ext>
            </a:extLst>
          </p:cNvPr>
          <p:cNvSpPr txBox="1"/>
          <p:nvPr/>
        </p:nvSpPr>
        <p:spPr>
          <a:xfrm>
            <a:off x="1215241" y="0"/>
            <a:ext cx="9761517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TABLE 8: BCR/TCR Donor-Level Repertoire Metrics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======================================================================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Panel A: BCR Repertoire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        n   BCR cells   Clonality  Singleton%    IgM%    IgG%    IgA%   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IgD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% Switched% 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TopClone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Liver   NL          6     194±165 0.505±0.137         1.4    45.9    30.6    13.4    10.1      44.0       3.0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Liver   IT          5      122±95 0.533±0.118         0.9    44.4    35.9    16.7     3.0      52.6       2.0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Liver   IA          5     278±206 0.438±0.098         2.2    56.8    24.9    14.0     4.3      38.9       4.0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Liver   AR          1      59±nan   0.568±nan         0.5    50.8    22.0    25.4     1.7      47.5       1.0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Liver   CR          —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Blood   NL          5     363±588 0.496±0.186         2.9    44.6    16.8    20.9    17.7      37.6       1.0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Blood   IT          5     675±221 0.315±0.035         5.4    68.0    17.3    12.5     2.2      29.8       3.0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Blood   IA          4     951±651 0.314±0.102         7.2    60.6    26.3    10.5     2.7      36.8      20.8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Blood   AR          1     547±nan   0.332±nan         4.4    55.9    23.6    17.6     2.9      41.1       2.0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Blood   CR          —</a:t>
            </a:r>
          </a:p>
          <a:p>
            <a:pPr rtl="0">
              <a:buNone/>
            </a:pP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Panel B: TCR Repertoire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        n   TCR cells   Clonality  Singleton%  </a:t>
            </a:r>
            <a:r>
              <a:rPr lang="en-US" sz="12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TopClone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Liver   NL          6918±890:&gt;120.550±0.079:&gt;120.8:&gt;12135:&gt;10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Liver   IT          61449±1405:&gt;120.487±0.148:&gt;121.6:&gt;1287:&gt;10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Liver   IA          53457±2196:&gt;120.365±0.071:&gt;123.9:&gt;1298:&gt;10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Liver   AR          11767±nan:&gt;120.423±nan:&gt;121.9:&gt;12151:&gt;10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Liver   CR          —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Blood   NL          51079±1439:&gt;120.585±0.149:&gt;121.4:&gt;12115:&gt;10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Blood   IT          52023±1473:&gt;120.351±0.094:&gt;124.1:&gt;1257:&gt;10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Blood   IA          43168±790:&gt;120.302±0.060:&gt;126.0:&gt;1281:&gt;10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Blood   AR          12847±nan:&gt;120.391±nan:&gt;124.7:&gt;12519:&gt;10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rtl="0">
              <a:buNone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Blood   CR          —</a:t>
            </a:r>
            <a:endParaRPr lang="en-US" sz="1200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406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85DD4D-5EF4-ABDF-02B7-AF4440DDEFC7}"/>
              </a:ext>
            </a:extLst>
          </p:cNvPr>
          <p:cNvSpPr txBox="1"/>
          <p:nvPr/>
        </p:nvSpPr>
        <p:spPr>
          <a:xfrm>
            <a:off x="434836" y="5680545"/>
            <a:ext cx="828178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29 immunological pathway gene sets used for </a:t>
            </a:r>
            <a:r>
              <a:rPr lang="en-US" sz="1050" dirty="0" err="1"/>
              <a:t>AUCell</a:t>
            </a:r>
            <a:r>
              <a:rPr lang="en-US" sz="1050" dirty="0"/>
              <a:t> scoring. 179 unique genes across 29 pathways (all present in h5ad). </a:t>
            </a:r>
            <a:r>
              <a:rPr lang="en-US" sz="1050" b="0" i="1" u="none" strike="noStrike" baseline="0" dirty="0">
                <a:solidFill>
                  <a:srgbClr val="333333"/>
                </a:solidFill>
                <a:latin typeface="Arial" panose="020B0604020202020204" pitchFamily="34" charset="0"/>
              </a:rPr>
              <a:t>	</a:t>
            </a:r>
            <a:endParaRPr 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3AADF-C452-3E74-411B-3A0E9B34EA34}"/>
              </a:ext>
            </a:extLst>
          </p:cNvPr>
          <p:cNvSpPr txBox="1"/>
          <p:nvPr/>
        </p:nvSpPr>
        <p:spPr>
          <a:xfrm>
            <a:off x="434836" y="608892"/>
            <a:ext cx="8530259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252538" algn="l"/>
                <a:tab pos="2693988" algn="l"/>
                <a:tab pos="3051175" algn="l"/>
                <a:tab pos="7265988" algn="l"/>
              </a:tabLst>
            </a:pPr>
            <a:r>
              <a:rPr lang="en-US" sz="1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Pathway	Category	N 	Genes		</a:t>
            </a:r>
          </a:p>
          <a:p>
            <a:pPr>
              <a:tabLst>
                <a:tab pos="1252538" algn="l"/>
                <a:tab pos="2693988" algn="l"/>
                <a:tab pos="3051175" algn="l"/>
                <a:tab pos="7265988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Angiogenesis	Tissue/Disease	9	ANGPT1, ANGPT2, FLT1, HIF1A, KDR, NOS3, TEK, VEGFA, VEGFB		</a:t>
            </a:r>
          </a:p>
          <a:p>
            <a:pPr>
              <a:tabLst>
                <a:tab pos="1252538" algn="l"/>
                <a:tab pos="2693988" algn="l"/>
                <a:tab pos="3051175" algn="l"/>
                <a:tab pos="7265988" algn="l"/>
              </a:tabLst>
            </a:pPr>
            <a:r>
              <a:rPr lang="en-US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antigen_presentation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Antigen Processing	9 	B2M, CD74, HLA-DPA1, HLA-DPB1, HLA-DQB1, HLA-DRA, HLA-DRB1, TAP1, TAP2	</a:t>
            </a:r>
          </a:p>
          <a:p>
            <a:pPr>
              <a:tabLst>
                <a:tab pos="1252538" algn="l"/>
                <a:tab pos="2693988" algn="l"/>
                <a:tab pos="3051175" algn="l"/>
                <a:tab pos="7265988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apoptosis	Cell Fate	6	BAK1, BAX, BCL2, CASP3, CASP8, FAS		</a:t>
            </a:r>
          </a:p>
          <a:p>
            <a:pPr>
              <a:tabLst>
                <a:tab pos="893763" algn="l"/>
                <a:tab pos="1163638" algn="l"/>
                <a:tab pos="1252538" algn="l"/>
                <a:tab pos="2693988" algn="l"/>
                <a:tab pos="3051175" algn="l"/>
                <a:tab pos="7265988" algn="l"/>
              </a:tabLst>
            </a:pPr>
            <a:r>
              <a:rPr lang="en-US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cancer_associated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Tissue/Disease	9	AFP, CTNNB1, GPC3, MMP9, MYC, SPP1, TERT, TP53, VEGFA		</a:t>
            </a:r>
          </a:p>
          <a:p>
            <a:pPr>
              <a:tabLst>
                <a:tab pos="1252538" algn="l"/>
                <a:tab pos="1609725" algn="l"/>
                <a:tab pos="2693988" algn="l"/>
                <a:tab pos="3051175" algn="l"/>
                <a:tab pos="7265988" algn="l"/>
              </a:tabLst>
            </a:pPr>
            <a:r>
              <a:rPr lang="en-US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cell_cycle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Cell Fate	10	CCNB1, CCND1, CCNE1, CDK1, CDK2, CDK4, CDK6, CDKN1A, CDKN2A, RB1		</a:t>
            </a:r>
          </a:p>
          <a:p>
            <a:pPr>
              <a:tabLst>
                <a:tab pos="1252538" algn="l"/>
                <a:tab pos="1609725" algn="l"/>
                <a:tab pos="2335213" algn="l"/>
                <a:tab pos="2693988" algn="l"/>
                <a:tab pos="3051175" algn="l"/>
                <a:tab pos="7265988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checkpoint	Immune Regulation		6	CTLA4, HAVCR2, LAG3, PDCD1, TIGIT, TOX		</a:t>
            </a:r>
          </a:p>
          <a:p>
            <a:pPr>
              <a:tabLst>
                <a:tab pos="1252538" algn="l"/>
                <a:tab pos="1609725" algn="l"/>
                <a:tab pos="2335213" algn="l"/>
                <a:tab pos="2693988" algn="l"/>
                <a:tab pos="3051175" algn="l"/>
                <a:tab pos="7265988" algn="l"/>
                <a:tab pos="8250238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cytotoxicity	Immune Effector		7	FASLG, GNLY, GZMA, GZMB, GZMK, NKG7, PRF1		</a:t>
            </a:r>
          </a:p>
          <a:p>
            <a:pPr>
              <a:tabLst>
                <a:tab pos="1252538" algn="l"/>
                <a:tab pos="1609725" algn="l"/>
                <a:tab pos="2335213" algn="l"/>
                <a:tab pos="2693988" algn="l"/>
                <a:tab pos="3051175" algn="l"/>
                <a:tab pos="7265988" algn="l"/>
                <a:tab pos="8250238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epigenetics	Tissue/Disease		8	DNMT1, DNMT3A, EZH2, HDAC1, KDM6A, KMT2A, SETDB1, TET2		</a:t>
            </a:r>
          </a:p>
          <a:p>
            <a:pPr>
              <a:tabLst>
                <a:tab pos="1252538" algn="l"/>
                <a:tab pos="1609725" algn="l"/>
                <a:tab pos="2335213" algn="l"/>
                <a:tab pos="2693988" algn="l"/>
                <a:tab pos="3051175" algn="l"/>
                <a:tab pos="7265988" algn="l"/>
                <a:tab pos="8250238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exhaustion	Immune Regulation		6	ENTPD1, HAVCR2, LAG3, PDCD1, TIGIT, TOX		</a:t>
            </a:r>
          </a:p>
          <a:p>
            <a:pPr>
              <a:tabLst>
                <a:tab pos="1252538" algn="l"/>
                <a:tab pos="1609725" algn="l"/>
                <a:tab pos="2335213" algn="l"/>
                <a:tab pos="2693988" algn="l"/>
                <a:tab pos="3051175" algn="l"/>
                <a:tab pos="7265988" algn="l"/>
                <a:tab pos="8250238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fibrosis	Tissue/Disease		10	ACTA2, COL1A1, COL3A1, FN1, LOX, LOXL2, MMP2, PDGFRB, TGFB1, TIMP1		</a:t>
            </a:r>
          </a:p>
          <a:p>
            <a:pPr>
              <a:tabLst>
                <a:tab pos="1252538" algn="l"/>
                <a:tab pos="1609725" algn="l"/>
                <a:tab pos="2335213" algn="l"/>
                <a:tab pos="2693988" algn="l"/>
                <a:tab pos="3051175" algn="l"/>
                <a:tab pos="7265988" algn="l"/>
                <a:tab pos="8250238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glycolysis	Metabolism		8	ENO1, GAPDH, HK1, HK2, LDHA, PFKFB3, PKM, SLC2A1		</a:t>
            </a:r>
          </a:p>
          <a:p>
            <a:pPr>
              <a:tabLst>
                <a:tab pos="1252538" algn="l"/>
                <a:tab pos="1609725" algn="l"/>
                <a:tab pos="2335213" algn="l"/>
                <a:tab pos="2693988" algn="l"/>
                <a:tab pos="3051175" algn="l"/>
                <a:tab pos="7265988" algn="l"/>
                <a:tab pos="8250238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il15_mtor	Signaling		10	AKT1, IL2RB, IL2RG, JAK1, JAK3, MTOR, PIK3CA, RPTOR, STAT5A, STAT5B	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7265988" algn="l"/>
                <a:tab pos="8250238" algn="l"/>
              </a:tabLst>
            </a:pPr>
            <a:r>
              <a:rPr lang="en-US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immune_evasion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</a:t>
            </a:r>
            <a:r>
              <a:rPr lang="en-US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mmune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Regulation		8	CD274, HAVCR2, IDO1, IL1RN, LGALS9, PDCD1LG2, TNFAIP3, VSIR	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7265988" algn="l"/>
                <a:tab pos="8250238" algn="l"/>
              </a:tabLst>
            </a:pPr>
            <a:r>
              <a:rPr lang="fr-FR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inflammasome	</a:t>
            </a:r>
            <a:r>
              <a:rPr lang="fr-FR" sz="90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  <a:r>
              <a:rPr lang="fr-FR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Immune </a:t>
            </a:r>
            <a:r>
              <a:rPr lang="fr-FR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Effector</a:t>
            </a:r>
            <a:r>
              <a:rPr lang="fr-FR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6	CASP1, GSDMD, IL18, IL1B, NLRP3, PYCARD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7265988" algn="l"/>
                <a:tab pos="8250238" algn="l"/>
              </a:tabLst>
            </a:pPr>
            <a:r>
              <a:rPr lang="en-US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memory_t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T Cell Biology		8	CCR7, CD44, EOMES, GZMK, IL7R, SELL, TBX21, TCF7	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7265988" algn="l"/>
                <a:tab pos="8159750" algn="l"/>
              </a:tabLst>
            </a:pPr>
            <a:r>
              <a:rPr lang="en-US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metabolic_recovery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Metabolism		6	NRF1, PPARA, PPARGC1A, PRKAA1, SIRT1, TFAM	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7265988" algn="l"/>
                <a:tab pos="8159750" algn="l"/>
              </a:tabLst>
            </a:pPr>
            <a:r>
              <a:rPr lang="en-US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mito_dysfunction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Metabolism		8	MT-ATP6, MT-CO1, MT-CO2, MT-CO3, MT-CYB, MT-ND1, MT-ND4, MT-ND5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7265988" algn="l"/>
                <a:tab pos="8159750" algn="l"/>
              </a:tabLst>
            </a:pPr>
            <a:r>
              <a:rPr lang="fr-FR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naive_t</a:t>
            </a:r>
            <a:r>
              <a:rPr lang="fr-FR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T Cell </a:t>
            </a:r>
            <a:r>
              <a:rPr lang="fr-FR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Biology</a:t>
            </a:r>
            <a:r>
              <a:rPr lang="fr-FR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5	CCR7, IL7R, LEF1, SELL, TCF7	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7265988" algn="l"/>
                <a:tab pos="8250238" algn="l"/>
              </a:tabLst>
            </a:pPr>
            <a:r>
              <a:rPr lang="en-US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nk_function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Innate Immunity		6	KLRC2, KLRD1, KLRK1, NCAM1, NCR1, NCR3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7265988" algn="l"/>
                <a:tab pos="8159750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nk_il15_dual		Innate Immunity		8	AKT1, IL2RB, IL2RG, JAK1, JAK3, MTOR, STAT5A, STAT5B	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6281738" algn="l"/>
                <a:tab pos="6550025" algn="l"/>
              </a:tabLst>
            </a:pPr>
            <a:r>
              <a:rPr lang="en-US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oxphos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Metabolism		7	ATP5F1A, ATP5F1B, COX5A, NDUFA1, NDUFB1, SDHB, UQCRB	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6281738" algn="l"/>
                <a:tab pos="6550025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Proliferation		Cell Fate		5	CCNB1, CDK1, MKI67, PCNA, TOP2A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6281738" algn="l"/>
                <a:tab pos="6550025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senescence		Cell Fate		7	CDKN1A, CDKN2A, GLB1, LMNB1, RB1, SERPINE1, TP53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6281738" algn="l"/>
                <a:tab pos="6550025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Stemness		T Cell Biology		7	BACH2, CCR7, IL7R, LEF1, MYB, SELL, TCF7	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6281738" algn="l"/>
                <a:tab pos="6550025" algn="l"/>
              </a:tabLst>
            </a:pPr>
            <a:r>
              <a:rPr lang="en-US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tf_programs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T Cell Biology		9	BATF, BCL6, EOMES, GATA3, IRF4, PRDM1, RORC, RUNX3, TBX21	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6281738" algn="l"/>
                <a:tab pos="6550025" algn="l"/>
              </a:tabLst>
            </a:pPr>
            <a:r>
              <a:rPr lang="da-DK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tgfb_signaling		Signaling		7	SMAD2, SMAD3, SMAD4, SMAD7, TGFB1, TGFBR1, TGFBR2	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6281738" algn="l"/>
                <a:tab pos="6550025" algn="l"/>
              </a:tabLst>
            </a:pPr>
            <a:r>
              <a:rPr lang="en-US" sz="9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</a:rPr>
              <a:t>tissue_resident</a:t>
            </a: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	T Cell Biology		6	CD69, CXCR6, ITGA1, ITGAE, RUNX3, ZNF683	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6281738" algn="l"/>
                <a:tab pos="6550025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Treg		Immune Regulation		5	CTLA4, FOXP3, IKZF2, IL2RA, TNFRSF18		</a:t>
            </a:r>
          </a:p>
          <a:p>
            <a:pPr>
              <a:tabLst>
                <a:tab pos="1163638" algn="l"/>
                <a:tab pos="1252538" algn="l"/>
                <a:tab pos="2335213" algn="l"/>
                <a:tab pos="2693988" algn="l"/>
                <a:tab pos="3051175" algn="l"/>
                <a:tab pos="6550025" algn="l"/>
              </a:tabLst>
            </a:pPr>
            <a:r>
              <a:rPr lang="en-US" sz="9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type1_ifn		Innate Immunity		9	IFI44L, IFNAR1, IRF3, IRF7, ISG15, MX1, OAS1, STAT1, STAT2		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						</a:t>
            </a:r>
          </a:p>
          <a:p>
            <a:r>
              <a:rPr lang="en-US" sz="9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TOTAL	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29 pathways	215	179 unique genes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D4FA6E-B044-D597-C355-D5D3D3AB427A}"/>
              </a:ext>
            </a:extLst>
          </p:cNvPr>
          <p:cNvSpPr txBox="1"/>
          <p:nvPr/>
        </p:nvSpPr>
        <p:spPr>
          <a:xfrm>
            <a:off x="504410" y="0"/>
            <a:ext cx="112527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Supplementary Table S1a. 29 Immunological Pathway Gene Sets	</a:t>
            </a:r>
            <a:endParaRPr lang="en-US" sz="12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837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D4075-65F8-DDE5-DE30-16103765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519D72-991C-68BB-720C-BFAFC06866F5}"/>
              </a:ext>
            </a:extLst>
          </p:cNvPr>
          <p:cNvSpPr txBox="1"/>
          <p:nvPr/>
        </p:nvSpPr>
        <p:spPr>
          <a:xfrm>
            <a:off x="586409" y="1658612"/>
            <a:ext cx="1088334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Supplementary Table S1b. Complete 29-Pathway × 6-Lineage × 2-Tissue </a:t>
            </a:r>
            <a:r>
              <a:rPr lang="en-US" b="1" dirty="0" err="1"/>
              <a:t>AUCell</a:t>
            </a:r>
            <a:r>
              <a:rPr lang="en-US" b="1" dirty="0"/>
              <a:t> Scoring Results</a:t>
            </a:r>
            <a:r>
              <a:rPr lang="en-US" dirty="0"/>
              <a:t>	</a:t>
            </a:r>
            <a:r>
              <a:rPr lang="en-US" b="1" dirty="0"/>
              <a:t> </a:t>
            </a:r>
          </a:p>
          <a:p>
            <a:r>
              <a:rPr lang="en-US" b="1" dirty="0"/>
              <a:t>&lt;see Excel Sheet&gt;</a:t>
            </a:r>
          </a:p>
          <a:p>
            <a:endParaRPr lang="en-US" b="1" dirty="0"/>
          </a:p>
          <a:p>
            <a:r>
              <a:rPr lang="en-US" b="1" dirty="0"/>
              <a:t>&lt;footnote&gt; </a:t>
            </a:r>
          </a:p>
          <a:p>
            <a:r>
              <a:rPr lang="en-US" sz="1400" dirty="0" err="1"/>
              <a:t>AUCell</a:t>
            </a:r>
            <a:r>
              <a:rPr lang="en-US" sz="1400" dirty="0"/>
              <a:t> pathway scoring with donor-level Mann-Whitney U tests. All 7 comparisons.	</a:t>
            </a:r>
          </a:p>
          <a:p>
            <a:r>
              <a:rPr lang="en-US" sz="1400" dirty="0" err="1"/>
              <a:t>AUCell</a:t>
            </a:r>
            <a:r>
              <a:rPr lang="en-US" sz="1400" dirty="0"/>
              <a:t> scoring of 29 immunological gene sets across 6 lineages in liver and blood. Donor-level Mann-Whitney U tests (two-sided). ★★p&lt;0.01, ★p&lt;0.05, †p&lt;0.10, NS: not significant. Consistency: donor-pair consistency count.</a:t>
            </a:r>
            <a:r>
              <a:rPr lang="en-US" sz="1400" dirty="0">
                <a:effectLst/>
              </a:rPr>
              <a:t> </a:t>
            </a:r>
            <a:endParaRPr lang="en-US" sz="1400" dirty="0"/>
          </a:p>
          <a:p>
            <a:r>
              <a:rPr lang="en-US" sz="1400" dirty="0"/>
              <a:t>	</a:t>
            </a:r>
            <a:r>
              <a:rPr lang="en-US" dirty="0"/>
              <a:t>												</a:t>
            </a:r>
          </a:p>
        </p:txBody>
      </p:sp>
    </p:spTree>
    <p:extLst>
      <p:ext uri="{BB962C8B-B14F-4D97-AF65-F5344CB8AC3E}">
        <p14:creationId xmlns:p14="http://schemas.microsoft.com/office/powerpoint/2010/main" val="2793975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753C-8DE5-0E18-B201-1FAE8E72E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6C0658-FB8F-7C4B-CB8B-1126DFFCB3C1}"/>
              </a:ext>
            </a:extLst>
          </p:cNvPr>
          <p:cNvSpPr txBox="1"/>
          <p:nvPr/>
        </p:nvSpPr>
        <p:spPr>
          <a:xfrm>
            <a:off x="1272209" y="2353054"/>
            <a:ext cx="979004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Supplementary Table S2a. Individual Gene Candidates with Source Attribution. </a:t>
            </a:r>
          </a:p>
          <a:p>
            <a:r>
              <a:rPr lang="en-US" b="1" dirty="0"/>
              <a:t>&lt;see Excel Sheet&gt; </a:t>
            </a:r>
          </a:p>
          <a:p>
            <a:endParaRPr lang="en-US" b="1" dirty="0"/>
          </a:p>
          <a:p>
            <a:r>
              <a:rPr lang="en-US" b="1" dirty="0"/>
              <a:t>&lt;footnote&gt;</a:t>
            </a:r>
            <a:r>
              <a:rPr lang="en-US" dirty="0"/>
              <a:t>						</a:t>
            </a:r>
          </a:p>
          <a:p>
            <a:r>
              <a:rPr lang="en-US" sz="1400" dirty="0"/>
              <a:t>C3: 196 genes; C5: 148 genes; C9B: 19 genes. C3∩C5 shared: 81 genes. C3∪C5: 263 genes. </a:t>
            </a:r>
          </a:p>
          <a:p>
            <a:r>
              <a:rPr lang="en-US" sz="1400" dirty="0"/>
              <a:t>C3: 196-gene broad screen; C5: 148-gene refined panel; C9B: 19 critical genes re-verified with stratified FDR. C3∩C5 shared: 81 genes. C3∪C5 gene universe: 263 genes. RPS6KB1 absent from h5ad file (178 of 179 pathway genes present).</a:t>
            </a:r>
            <a:r>
              <a:rPr lang="en-US" sz="1400" dirty="0">
                <a:effectLst/>
              </a:rPr>
              <a:t> </a:t>
            </a:r>
            <a:endParaRPr lang="en-US" sz="1400" dirty="0"/>
          </a:p>
          <a:p>
            <a:r>
              <a:rPr lang="en-US" sz="1400" dirty="0"/>
              <a:t>					</a:t>
            </a:r>
            <a:r>
              <a:rPr lang="en-US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1681265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77ED-ED8A-894C-0E28-AF154D30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936989-13AE-4FE4-4738-FFFE4277BA1F}"/>
              </a:ext>
            </a:extLst>
          </p:cNvPr>
          <p:cNvSpPr txBox="1"/>
          <p:nvPr/>
        </p:nvSpPr>
        <p:spPr>
          <a:xfrm>
            <a:off x="1013791" y="1249810"/>
            <a:ext cx="1001864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Supplementary Table S2b. IT-Specific Gene-Lineage Combinations </a:t>
            </a:r>
          </a:p>
          <a:p>
            <a:r>
              <a:rPr lang="en-US" b="1" dirty="0"/>
              <a:t>&lt;see Excel Sheet&gt;</a:t>
            </a:r>
          </a:p>
          <a:p>
            <a:endParaRPr lang="en-US" b="1" dirty="0"/>
          </a:p>
          <a:p>
            <a:r>
              <a:rPr lang="en-US" b="1" dirty="0"/>
              <a:t>&lt;footnote&gt; </a:t>
            </a:r>
            <a:r>
              <a:rPr lang="en-US" dirty="0"/>
              <a:t>						</a:t>
            </a:r>
          </a:p>
          <a:p>
            <a:r>
              <a:rPr lang="en-US" sz="1400" dirty="0"/>
              <a:t>IT-specific: NL→IT p&lt;0.05 AND NL→IA p≥0.05. Liver=52 + Blood=62 = 114 total. C5 148-gene panel. IT-specific: NL→IT significant (p&lt;0.05) AND NL→IA non-significant (p≥0.05). C5 148-gene panel, 6 lineages (</a:t>
            </a:r>
            <a:r>
              <a:rPr lang="en-US" sz="1400" dirty="0" err="1"/>
              <a:t>gdT</a:t>
            </a:r>
            <a:r>
              <a:rPr lang="en-US" sz="1400" dirty="0"/>
              <a:t> excluded), donor-level Mann-Whitney U tests. Liver n: NL=6, IT=6, IA=5. Blood n: NL=5, IT=5, IA=4. Liver rows colored orange; Blood rows colored blue.</a:t>
            </a:r>
            <a:r>
              <a:rPr lang="en-US" sz="1400" dirty="0">
                <a:effectLst/>
              </a:rPr>
              <a:t> </a:t>
            </a:r>
            <a:endParaRPr lang="en-US" sz="1400" dirty="0"/>
          </a:p>
          <a:p>
            <a:r>
              <a:rPr lang="en-US" sz="1400" dirty="0"/>
              <a:t>							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65158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695CF7-EAD9-61E8-33DA-D9EC292C3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396473"/>
              </p:ext>
            </p:extLst>
          </p:nvPr>
        </p:nvGraphicFramePr>
        <p:xfrm>
          <a:off x="924339" y="974035"/>
          <a:ext cx="10485780" cy="5188224"/>
        </p:xfrm>
        <a:graphic>
          <a:graphicData uri="http://schemas.openxmlformats.org/drawingml/2006/table">
            <a:tbl>
              <a:tblPr/>
              <a:tblGrid>
                <a:gridCol w="1534835">
                  <a:extLst>
                    <a:ext uri="{9D8B030D-6E8A-4147-A177-3AD203B41FA5}">
                      <a16:colId xmlns:a16="http://schemas.microsoft.com/office/drawing/2014/main" val="2017221560"/>
                    </a:ext>
                  </a:extLst>
                </a:gridCol>
                <a:gridCol w="1358261">
                  <a:extLst>
                    <a:ext uri="{9D8B030D-6E8A-4147-A177-3AD203B41FA5}">
                      <a16:colId xmlns:a16="http://schemas.microsoft.com/office/drawing/2014/main" val="1426557309"/>
                    </a:ext>
                  </a:extLst>
                </a:gridCol>
                <a:gridCol w="1086610">
                  <a:extLst>
                    <a:ext uri="{9D8B030D-6E8A-4147-A177-3AD203B41FA5}">
                      <a16:colId xmlns:a16="http://schemas.microsoft.com/office/drawing/2014/main" val="406192053"/>
                    </a:ext>
                  </a:extLst>
                </a:gridCol>
                <a:gridCol w="2349793">
                  <a:extLst>
                    <a:ext uri="{9D8B030D-6E8A-4147-A177-3AD203B41FA5}">
                      <a16:colId xmlns:a16="http://schemas.microsoft.com/office/drawing/2014/main" val="3289878269"/>
                    </a:ext>
                  </a:extLst>
                </a:gridCol>
                <a:gridCol w="2349793">
                  <a:extLst>
                    <a:ext uri="{9D8B030D-6E8A-4147-A177-3AD203B41FA5}">
                      <a16:colId xmlns:a16="http://schemas.microsoft.com/office/drawing/2014/main" val="33126567"/>
                    </a:ext>
                  </a:extLst>
                </a:gridCol>
                <a:gridCol w="1806488">
                  <a:extLst>
                    <a:ext uri="{9D8B030D-6E8A-4147-A177-3AD203B41FA5}">
                      <a16:colId xmlns:a16="http://schemas.microsoft.com/office/drawing/2014/main" val="809868731"/>
                    </a:ext>
                  </a:extLst>
                </a:gridCol>
              </a:tblGrid>
              <a:tr h="338362">
                <a:tc gridSpan="6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Supplmentary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Table S3. COMPREHENSIVE 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COMPARISON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: NL→IT vs IT→IA (Tissue-Separated, Donor-Level)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398559"/>
                  </a:ext>
                </a:extLst>
              </a:tr>
              <a:tr h="338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Gene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Tissue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NL→IT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IT→IA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Pattern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37505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TGFB1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↑23% p=0.309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★↑44% p=0.016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548580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SERPINE1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↑88% p=0.204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★↑341% p=0.016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28304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ID3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↑111% p=0.290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★↑770% p=0.032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239087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★↑1857% p=0.004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★↓96% p=0.007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TRANSITION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108011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↑248% p=0.295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★↓98% p=0.012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892623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SERPINE1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★↑1240% p=0.045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↑61% p=0.623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IT-persistent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060883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SERPINE1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↓25% p=0.684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↓45% p=0.370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920412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TGFB1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↑4% p=0.818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↑10% p=0.537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111047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↓90% p=0.747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↑84% p=0.286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667955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↓97% p=0.480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↑193% p=0.268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724178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↑56% p=0.841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↑161% p=0.111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053824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↑8% p=0.818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↑7% p=1.000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006954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†↑29% p=0.065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★↓23% p=0.030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938803"/>
                  </a:ext>
                </a:extLst>
              </a:tr>
              <a:tr h="3222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↓37% p=0.421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↑66% p=0.905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NS both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112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988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60EB18-1855-6F45-8771-5CB92F36D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158743"/>
              </p:ext>
            </p:extLst>
          </p:nvPr>
        </p:nvGraphicFramePr>
        <p:xfrm>
          <a:off x="775252" y="904461"/>
          <a:ext cx="10863472" cy="5108721"/>
        </p:xfrm>
        <a:graphic>
          <a:graphicData uri="http://schemas.openxmlformats.org/drawingml/2006/table">
            <a:tbl>
              <a:tblPr/>
              <a:tblGrid>
                <a:gridCol w="717148">
                  <a:extLst>
                    <a:ext uri="{9D8B030D-6E8A-4147-A177-3AD203B41FA5}">
                      <a16:colId xmlns:a16="http://schemas.microsoft.com/office/drawing/2014/main" val="1308476168"/>
                    </a:ext>
                  </a:extLst>
                </a:gridCol>
                <a:gridCol w="717148">
                  <a:extLst>
                    <a:ext uri="{9D8B030D-6E8A-4147-A177-3AD203B41FA5}">
                      <a16:colId xmlns:a16="http://schemas.microsoft.com/office/drawing/2014/main" val="1264973420"/>
                    </a:ext>
                  </a:extLst>
                </a:gridCol>
                <a:gridCol w="717148">
                  <a:extLst>
                    <a:ext uri="{9D8B030D-6E8A-4147-A177-3AD203B41FA5}">
                      <a16:colId xmlns:a16="http://schemas.microsoft.com/office/drawing/2014/main" val="2027778011"/>
                    </a:ext>
                  </a:extLst>
                </a:gridCol>
                <a:gridCol w="1593664">
                  <a:extLst>
                    <a:ext uri="{9D8B030D-6E8A-4147-A177-3AD203B41FA5}">
                      <a16:colId xmlns:a16="http://schemas.microsoft.com/office/drawing/2014/main" val="1942972697"/>
                    </a:ext>
                  </a:extLst>
                </a:gridCol>
                <a:gridCol w="1593664">
                  <a:extLst>
                    <a:ext uri="{9D8B030D-6E8A-4147-A177-3AD203B41FA5}">
                      <a16:colId xmlns:a16="http://schemas.microsoft.com/office/drawing/2014/main" val="2667364592"/>
                    </a:ext>
                  </a:extLst>
                </a:gridCol>
                <a:gridCol w="1593664">
                  <a:extLst>
                    <a:ext uri="{9D8B030D-6E8A-4147-A177-3AD203B41FA5}">
                      <a16:colId xmlns:a16="http://schemas.microsoft.com/office/drawing/2014/main" val="1417956729"/>
                    </a:ext>
                  </a:extLst>
                </a:gridCol>
                <a:gridCol w="1593664">
                  <a:extLst>
                    <a:ext uri="{9D8B030D-6E8A-4147-A177-3AD203B41FA5}">
                      <a16:colId xmlns:a16="http://schemas.microsoft.com/office/drawing/2014/main" val="1948553379"/>
                    </a:ext>
                  </a:extLst>
                </a:gridCol>
                <a:gridCol w="1168686">
                  <a:extLst>
                    <a:ext uri="{9D8B030D-6E8A-4147-A177-3AD203B41FA5}">
                      <a16:colId xmlns:a16="http://schemas.microsoft.com/office/drawing/2014/main" val="1365111762"/>
                    </a:ext>
                  </a:extLst>
                </a:gridCol>
                <a:gridCol w="1168686">
                  <a:extLst>
                    <a:ext uri="{9D8B030D-6E8A-4147-A177-3AD203B41FA5}">
                      <a16:colId xmlns:a16="http://schemas.microsoft.com/office/drawing/2014/main" val="2708229461"/>
                    </a:ext>
                  </a:extLst>
                </a:gridCol>
              </a:tblGrid>
              <a:tr h="353593">
                <a:tc gridSpan="7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Supplementary Table S4A: IA vs AR Discriminators with Disease Trajectory Context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978247"/>
                  </a:ext>
                </a:extLst>
              </a:tr>
              <a:tr h="5120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Lineage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Tissue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NL-&gt;IT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NL-&gt;IA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NL-&gt;AR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vs AR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vs AR Direction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Pattern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694038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DNMT1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(t)+161.5% (p=0.082)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*+237.0% (p=0.009)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+25.6% (p=0.548)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*-62.7% (p=0.036)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IT-inherited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354706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FOXP3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(t)+153.7% (p=0.093)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*+255.0% (p=0.004)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+50.4% (p=0.548)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*-57.6% (p=0.036)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IT-inherited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636754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TYROBP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*+910.8% (p=0.008)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*+774.6% (p=0.016)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+170.8% (p=0.393)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(t)-69.0% (p=0.057)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IT-inherited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513400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FOXP3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+358.8% (p=0.265)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*+1053.4% (p=0.018)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+295.3% (p=0.127)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(t)-65.7% (p=0.057)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361472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TIGIT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Myeloid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from_zero (p=0.180)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*from_zero (p=0.011)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from_zero (p=0.302)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*-98.7% (p=0.050)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IA-emergent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541790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GNLY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+88.1% (p=0.937)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+1.8% (p=0.931)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*+128.7% (p=0.024)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(t)+124.6% (p=0.071)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AR-advantage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938587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GNLY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+9.6% (p=0.691)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-37.6% (p=0.556)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*+155.8% (p=0.036)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(t)+310.0% (p=0.057)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AR-advantage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922165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GNLY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-100.0% (p=0.223)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+222.0% (p=0.908)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*+11297.2% (p=0.022)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*+3439.1% (p=0.026)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AR-advantage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562410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CD4_T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(t)+23.3% (p=0.093)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-0.1% (p=0.792)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*+42.7% (p=0.024)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(t)+42.7% (p=0.071)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AR-advantage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539264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GZMK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(t)+28.7% (p=0.065)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-0.5% (p=1.000)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*+35.0% (p=0.024)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*+35.7% (p=0.036)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AR-advantage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947745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FCER1G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PlasmaB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*+514.8% (p=0.021)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(t)+437.3% (p=0.065)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+92.9% (p=0.230)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(t)-64.1% (p=0.057)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IT-specific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35236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FCER1G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+149.3% (p=0.486)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(t)+223.9% (p=0.076)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-100.0% (p=0.377)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*-100.0% (p=0.033)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772546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GZMB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CD8_T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+4.6% (p=0.699)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-40.7% (p=0.126)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+37.5% (p=0.262)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*+131.9% (p=0.036)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786432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LAYN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NK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Blood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-38.4% (p=0.833)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+62.9% (p=0.902)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-96.8% (p=0.341)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*-98.1% (p=0.050)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40639"/>
                  </a:ext>
                </a:extLst>
              </a:tr>
              <a:tr h="282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TYROBP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Liver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+7.1% (p=1.000)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-59.8% (p=0.429)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(t)-100.0% (p=0.059)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*-100.0% (p=0.033)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IA higher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56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34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E256-7682-E570-8636-7A5D4875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B11E11-5D85-0214-2F7A-297C3C31D1C4}"/>
              </a:ext>
            </a:extLst>
          </p:cNvPr>
          <p:cNvSpPr txBox="1"/>
          <p:nvPr/>
        </p:nvSpPr>
        <p:spPr>
          <a:xfrm>
            <a:off x="1311966" y="1769238"/>
            <a:ext cx="878867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Supplementary Table S4B. Comprehensive Disease Trajectory Comparison for All Tested Genes. </a:t>
            </a:r>
          </a:p>
          <a:p>
            <a:r>
              <a:rPr lang="en-US" b="1" dirty="0"/>
              <a:t>&lt;see Excel Sheet&gt;</a:t>
            </a:r>
          </a:p>
          <a:p>
            <a:endParaRPr lang="en-US" b="1" dirty="0"/>
          </a:p>
          <a:p>
            <a:r>
              <a:rPr lang="en-US" b="1" dirty="0"/>
              <a:t>&lt;footnote&gt; </a:t>
            </a:r>
            <a:endParaRPr lang="en-US" dirty="0"/>
          </a:p>
          <a:p>
            <a:r>
              <a:rPr lang="en-US" dirty="0"/>
              <a:t>Complete donor-level Mann-Whitney U test results for 24 transition-relevant genes across all lineage-tissue combinations with at least one significant comparison (p&lt;0.05). Four comparisons shown: NL→IT, NL→IA, NL→AR, and IA vs AR. Each cell reports the percent change and p-value. 98 gene-lineage-tissue combinations included. Genes tested: GNLY, FOXP3, LAYN, TIGIT, DNMT1, CTLA4, TOX, GZMB, PRF1, GZMK, DNMT3A, TET2, TGFB1, LGALS9, SOCS1, SOCS3, PRDM1, BCL6, JAK1, MTOR, AIM2, MEFV, TYROBP, FCER1G. Statistical test: Mann-Whitney U, two-sided, donor-level means. *p&lt;0.05, (t) p&lt;0.10.</a:t>
            </a:r>
          </a:p>
        </p:txBody>
      </p:sp>
    </p:spTree>
    <p:extLst>
      <p:ext uri="{BB962C8B-B14F-4D97-AF65-F5344CB8AC3E}">
        <p14:creationId xmlns:p14="http://schemas.microsoft.com/office/powerpoint/2010/main" val="422098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7E69-FF5E-38CC-D7B3-4DFC7EAC7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EFE8C1-456C-B2F1-02DF-71D3708F38D6}"/>
              </a:ext>
            </a:extLst>
          </p:cNvPr>
          <p:cNvSpPr txBox="1"/>
          <p:nvPr/>
        </p:nvSpPr>
        <p:spPr>
          <a:xfrm>
            <a:off x="558141" y="197346"/>
            <a:ext cx="114596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Supplementary Table S5. Disease Trajectory Classification of CR-Phase Transcriptomic Alterations (Tissue-Separated). </a:t>
            </a:r>
          </a:p>
          <a:p>
            <a:pPr>
              <a:buNone/>
            </a:pPr>
            <a:r>
              <a:rPr lang="en-US" b="1" dirty="0"/>
              <a:t>&lt;see Excel Sheet&gt;</a:t>
            </a:r>
          </a:p>
          <a:p>
            <a:endParaRPr lang="en-US" b="1" dirty="0"/>
          </a:p>
          <a:p>
            <a:r>
              <a:rPr lang="en-US" b="1" dirty="0"/>
              <a:t>&lt;footnote&gt; </a:t>
            </a:r>
          </a:p>
          <a:p>
            <a:r>
              <a:rPr lang="en-US" dirty="0"/>
              <a:t>Donor-level Mann-Whitney U tests for 30 genes across 6 lineages in both liver and blood. Three comparisons shown: NL→IT, NL→IA, and NL→CR, enabling trajectory classification. Patterns defined as: </a:t>
            </a:r>
            <a:r>
              <a:rPr lang="en-US" b="1" dirty="0"/>
              <a:t>IT-persistent</a:t>
            </a:r>
            <a:r>
              <a:rPr lang="en-US" dirty="0"/>
              <a:t> (NL→IT significant AND NL→CR significant, same direction — IT-originated changes persisting beyond viral clearance), </a:t>
            </a:r>
            <a:r>
              <a:rPr lang="en-US" b="1" dirty="0"/>
              <a:t>IA-persistent</a:t>
            </a:r>
            <a:r>
              <a:rPr lang="en-US" dirty="0"/>
              <a:t> (NL→IT NS, NL→IA significant, NL→CR significant), </a:t>
            </a:r>
            <a:r>
              <a:rPr lang="en-US" b="1" dirty="0"/>
              <a:t>CR-unique</a:t>
            </a:r>
            <a:r>
              <a:rPr lang="en-US" dirty="0"/>
              <a:t> (NL→IT NS, NL→IA NS, NL→CR significant — novel CR-specific changes), </a:t>
            </a:r>
            <a:r>
              <a:rPr lang="en-US" b="1" dirty="0"/>
              <a:t>Resolved at CR</a:t>
            </a:r>
            <a:r>
              <a:rPr lang="en-US" dirty="0"/>
              <a:t> (NL→IT significant, NL→CR NS — IT changes no longer present after resolution). 116 gene-lineage-tissue combinations with at least one significant comparison. Mann-Whitney U, two-sided, donor-level means. *p&lt;0.05, (t) p&lt;0.10.</a:t>
            </a:r>
          </a:p>
        </p:txBody>
      </p:sp>
    </p:spTree>
    <p:extLst>
      <p:ext uri="{BB962C8B-B14F-4D97-AF65-F5344CB8AC3E}">
        <p14:creationId xmlns:p14="http://schemas.microsoft.com/office/powerpoint/2010/main" val="1823885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C63707-11D1-A1B0-0240-F75FC46C3F33}"/>
              </a:ext>
            </a:extLst>
          </p:cNvPr>
          <p:cNvSpPr txBox="1"/>
          <p:nvPr/>
        </p:nvSpPr>
        <p:spPr>
          <a:xfrm>
            <a:off x="3048990" y="2871297"/>
            <a:ext cx="6097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Table S6. Complete Donor-Level BCR/TCR Metrics.</a:t>
            </a: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2946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C6795F-6013-ABF6-5320-020B63BE7C9D}"/>
              </a:ext>
            </a:extLst>
          </p:cNvPr>
          <p:cNvSpPr txBox="1"/>
          <p:nvPr/>
        </p:nvSpPr>
        <p:spPr>
          <a:xfrm>
            <a:off x="3048990" y="3009796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Table S7. IT→IA Transition BCR/TCR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99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C788CB7-E7BA-426A-AAB5-892406994B5B}">
  <we:reference id="wa200010001" version="1.0.0.0" store="en-US" storeType="OMEX"/>
  <we:alternateReferences>
    <we:reference id="WA200010001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5069</TotalTime>
  <Words>6705</Words>
  <Application>Microsoft Office PowerPoint</Application>
  <PresentationFormat>Widescreen</PresentationFormat>
  <Paragraphs>507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 MIN</dc:creator>
  <cp:lastModifiedBy>YOUNG MIN</cp:lastModifiedBy>
  <cp:revision>9</cp:revision>
  <dcterms:created xsi:type="dcterms:W3CDTF">2026-03-10T09:01:37Z</dcterms:created>
  <dcterms:modified xsi:type="dcterms:W3CDTF">2026-03-14T07:43:41Z</dcterms:modified>
</cp:coreProperties>
</file>